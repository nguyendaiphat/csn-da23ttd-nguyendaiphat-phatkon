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557" autoAdjust="0"/>
  </p:normalViewPr>
  <p:slideViewPr>
    <p:cSldViewPr snapToGrid="0">
      <p:cViewPr varScale="1">
        <p:scale>
          <a:sx n="100" d="100"/>
          <a:sy n="100" d="100"/>
        </p:scale>
        <p:origin x="9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4030587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1372302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76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91DD69-4099-4092-B76C-2E6D4775A775}"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1336442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91DD69-4099-4092-B76C-2E6D4775A775}" type="datetimeFigureOut">
              <a:rPr lang="en-GB" smtClean="0"/>
              <a:t>04/01/2026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446705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91DD69-4099-4092-B76C-2E6D4775A775}" type="datetimeFigureOut">
              <a:rPr lang="en-GB" smtClean="0"/>
              <a:t>04/01/2026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115936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1DD69-4099-4092-B76C-2E6D4775A775}" type="datetimeFigureOut">
              <a:rPr lang="en-GB" smtClean="0"/>
              <a:t>04/01/2026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2085839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91DD69-4099-4092-B76C-2E6D4775A775}"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4271447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1DD69-4099-4092-B76C-2E6D4775A775}"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2467841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334093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25888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3760360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87193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3979915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3716317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91DD69-4099-4092-B76C-2E6D4775A775}"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962528-FF92-44F5-863F-97EC4892C578}" type="slidenum">
              <a:rPr lang="en-GB" smtClean="0"/>
              <a:t>‹#›</a:t>
            </a:fld>
            <a:endParaRPr lang="en-GB"/>
          </a:p>
        </p:txBody>
      </p:sp>
    </p:spTree>
    <p:extLst>
      <p:ext uri="{BB962C8B-B14F-4D97-AF65-F5344CB8AC3E}">
        <p14:creationId xmlns:p14="http://schemas.microsoft.com/office/powerpoint/2010/main" val="1520777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491DD69-4099-4092-B76C-2E6D4775A775}" type="datetimeFigureOut">
              <a:rPr lang="en-GB" smtClean="0"/>
              <a:t>04/01/2026</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962528-FF92-44F5-863F-97EC4892C578}" type="slidenum">
              <a:rPr lang="en-GB" smtClean="0"/>
              <a:t>‹#›</a:t>
            </a:fld>
            <a:endParaRPr lang="en-GB"/>
          </a:p>
        </p:txBody>
      </p:sp>
    </p:spTree>
    <p:extLst>
      <p:ext uri="{BB962C8B-B14F-4D97-AF65-F5344CB8AC3E}">
        <p14:creationId xmlns:p14="http://schemas.microsoft.com/office/powerpoint/2010/main" val="1362385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AE4A-9BB5-4600-3137-A7041A9469E0}"/>
              </a:ext>
            </a:extLst>
          </p:cNvPr>
          <p:cNvSpPr>
            <a:spLocks noGrp="1"/>
          </p:cNvSpPr>
          <p:nvPr>
            <p:ph type="ctrTitle"/>
          </p:nvPr>
        </p:nvSpPr>
        <p:spPr>
          <a:xfrm>
            <a:off x="850339" y="2185880"/>
            <a:ext cx="9951571" cy="2253686"/>
          </a:xfrm>
        </p:spPr>
        <p:txBody>
          <a:bodyPr/>
          <a:lstStyle/>
          <a:p>
            <a:pPr algn="ctr"/>
            <a:r>
              <a:rPr lang="vi-VN" sz="4000" b="1">
                <a:solidFill>
                  <a:schemeClr val="tx1"/>
                </a:solidFill>
                <a:latin typeface="+mn-lt"/>
              </a:rPr>
              <a:t>Xây dựng Website giới thiệu các di tích lịch sử trên địa bàn Tỉnh Vĩnh Long</a:t>
            </a:r>
            <a:endParaRPr lang="en-GB" sz="4000" b="1">
              <a:solidFill>
                <a:schemeClr val="tx1"/>
              </a:solidFill>
              <a:latin typeface="+mn-lt"/>
              <a:ea typeface="Calibri" panose="020F050202020403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13E3ED6-26A6-B4EA-2395-079C30CBA9D4}"/>
              </a:ext>
            </a:extLst>
          </p:cNvPr>
          <p:cNvSpPr>
            <a:spLocks noGrp="1"/>
          </p:cNvSpPr>
          <p:nvPr>
            <p:ph type="subTitle" idx="1"/>
          </p:nvPr>
        </p:nvSpPr>
        <p:spPr>
          <a:xfrm>
            <a:off x="7324598" y="4772356"/>
            <a:ext cx="4492752" cy="1096899"/>
          </a:xfrm>
        </p:spPr>
        <p:txBody>
          <a:bodyPr>
            <a:noAutofit/>
          </a:bodyPr>
          <a:lstStyle/>
          <a:p>
            <a:pPr algn="l"/>
            <a:r>
              <a:rPr lang="en-GB" b="1">
                <a:solidFill>
                  <a:schemeClr val="tx1"/>
                </a:solidFill>
                <a:latin typeface="Arial" panose="020B0604020202020204" pitchFamily="34" charset="0"/>
                <a:ea typeface="Calibri" panose="020F0502020204030204" pitchFamily="34" charset="0"/>
                <a:cs typeface="Arial" panose="020B0604020202020204" pitchFamily="34" charset="0"/>
              </a:rPr>
              <a:t>Sinh viên thực hiện: Nguyễn Đại Phát</a:t>
            </a:r>
          </a:p>
          <a:p>
            <a:pPr algn="l"/>
            <a:r>
              <a:rPr lang="en-GB" b="1">
                <a:solidFill>
                  <a:schemeClr val="tx1"/>
                </a:solidFill>
                <a:latin typeface="Arial" panose="020B0604020202020204" pitchFamily="34" charset="0"/>
                <a:ea typeface="Calibri" panose="020F0502020204030204" pitchFamily="34" charset="0"/>
                <a:cs typeface="Arial" panose="020B0604020202020204" pitchFamily="34" charset="0"/>
              </a:rPr>
              <a:t>MSSV: 110123154</a:t>
            </a:r>
          </a:p>
          <a:p>
            <a:pPr algn="l"/>
            <a:r>
              <a:rPr lang="en-GB" b="1">
                <a:solidFill>
                  <a:schemeClr val="tx1"/>
                </a:solidFill>
                <a:latin typeface="Arial" panose="020B0604020202020204" pitchFamily="34" charset="0"/>
                <a:ea typeface="Calibri" panose="020F0502020204030204" pitchFamily="34" charset="0"/>
                <a:cs typeface="Arial" panose="020B0604020202020204" pitchFamily="34" charset="0"/>
              </a:rPr>
              <a:t>Lớp: DA23TTD</a:t>
            </a:r>
          </a:p>
        </p:txBody>
      </p:sp>
      <p:pic>
        <p:nvPicPr>
          <p:cNvPr id="1026" name="Picture 2">
            <a:extLst>
              <a:ext uri="{FF2B5EF4-FFF2-40B4-BE49-F238E27FC236}">
                <a16:creationId xmlns:a16="http://schemas.microsoft.com/office/drawing/2014/main" id="{03BB7800-6B3F-7BD1-1DC6-26A3D7915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9300" y="613110"/>
            <a:ext cx="1675490" cy="1631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1776457-023D-6AB7-6323-9E5ED02F808A}"/>
              </a:ext>
            </a:extLst>
          </p:cNvPr>
          <p:cNvSpPr txBox="1"/>
          <p:nvPr/>
        </p:nvSpPr>
        <p:spPr>
          <a:xfrm>
            <a:off x="1024996" y="-77353"/>
            <a:ext cx="9037108" cy="707886"/>
          </a:xfrm>
          <a:prstGeom prst="rect">
            <a:avLst/>
          </a:prstGeom>
          <a:noFill/>
        </p:spPr>
        <p:txBody>
          <a:bodyPr wrap="square" rtlCol="0">
            <a:spAutoFit/>
          </a:bodyPr>
          <a:lstStyle/>
          <a:p>
            <a:pPr algn="ctr"/>
            <a:r>
              <a:rPr lang="en-GB" sz="2000">
                <a:latin typeface="Arial" panose="020B0604020202020204" pitchFamily="34" charset="0"/>
                <a:cs typeface="Arial" panose="020B0604020202020204" pitchFamily="34" charset="0"/>
              </a:rPr>
              <a:t>TRƯỜNG KỸ THUẬT CÔNG NGHỆ </a:t>
            </a:r>
          </a:p>
          <a:p>
            <a:pPr algn="ctr"/>
            <a:r>
              <a:rPr lang="en-GB" sz="2000">
                <a:latin typeface="Arial" panose="020B0604020202020204" pitchFamily="34" charset="0"/>
                <a:cs typeface="Arial" panose="020B0604020202020204" pitchFamily="34" charset="0"/>
              </a:rPr>
              <a:t>KHOA CÔNG NGHỆ THÔNG TIN</a:t>
            </a:r>
          </a:p>
        </p:txBody>
      </p:sp>
      <p:sp>
        <p:nvSpPr>
          <p:cNvPr id="5" name="TextBox 4">
            <a:extLst>
              <a:ext uri="{FF2B5EF4-FFF2-40B4-BE49-F238E27FC236}">
                <a16:creationId xmlns:a16="http://schemas.microsoft.com/office/drawing/2014/main" id="{B540FF2F-54AC-984C-5FB3-229794504476}"/>
              </a:ext>
            </a:extLst>
          </p:cNvPr>
          <p:cNvSpPr txBox="1"/>
          <p:nvPr/>
        </p:nvSpPr>
        <p:spPr>
          <a:xfrm>
            <a:off x="3790950" y="6534835"/>
            <a:ext cx="4394200" cy="323165"/>
          </a:xfrm>
          <a:prstGeom prst="rect">
            <a:avLst/>
          </a:prstGeom>
          <a:noFill/>
        </p:spPr>
        <p:txBody>
          <a:bodyPr wrap="square" rtlCol="0">
            <a:spAutoFit/>
          </a:bodyPr>
          <a:lstStyle/>
          <a:p>
            <a:r>
              <a:rPr lang="en-GB" sz="1500" b="1">
                <a:latin typeface="Arial" panose="020B0604020202020204" pitchFamily="34" charset="0"/>
                <a:cs typeface="Arial" panose="020B0604020202020204" pitchFamily="34" charset="0"/>
              </a:rPr>
              <a:t>Vĩnh long, tháng 1 năm 2026</a:t>
            </a:r>
          </a:p>
        </p:txBody>
      </p:sp>
      <p:sp>
        <p:nvSpPr>
          <p:cNvPr id="6" name="TextBox 5">
            <a:extLst>
              <a:ext uri="{FF2B5EF4-FFF2-40B4-BE49-F238E27FC236}">
                <a16:creationId xmlns:a16="http://schemas.microsoft.com/office/drawing/2014/main" id="{472410BC-28C7-F776-3D05-AAFFCEFEACBB}"/>
              </a:ext>
            </a:extLst>
          </p:cNvPr>
          <p:cNvSpPr txBox="1"/>
          <p:nvPr/>
        </p:nvSpPr>
        <p:spPr>
          <a:xfrm>
            <a:off x="1219200" y="4898823"/>
            <a:ext cx="3340100" cy="646331"/>
          </a:xfrm>
          <a:prstGeom prst="rect">
            <a:avLst/>
          </a:prstGeom>
          <a:noFill/>
        </p:spPr>
        <p:txBody>
          <a:bodyPr wrap="square" rtlCol="0">
            <a:spAutoFit/>
          </a:bodyPr>
          <a:lstStyle/>
          <a:p>
            <a:r>
              <a:rPr lang="en-GB" b="1">
                <a:latin typeface="Arial" panose="020B0604020202020204" pitchFamily="34" charset="0"/>
                <a:cs typeface="Arial" panose="020B0604020202020204" pitchFamily="34" charset="0"/>
              </a:rPr>
              <a:t>Giảng viên hướng dẫn</a:t>
            </a:r>
          </a:p>
          <a:p>
            <a:r>
              <a:rPr lang="en-GB" b="1">
                <a:latin typeface="Arial" panose="020B0604020202020204" pitchFamily="34" charset="0"/>
                <a:cs typeface="Arial" panose="020B0604020202020204" pitchFamily="34" charset="0"/>
              </a:rPr>
              <a:t>Ths.Võ Thành C</a:t>
            </a:r>
          </a:p>
        </p:txBody>
      </p:sp>
      <p:sp>
        <p:nvSpPr>
          <p:cNvPr id="7" name="TextBox 6">
            <a:extLst>
              <a:ext uri="{FF2B5EF4-FFF2-40B4-BE49-F238E27FC236}">
                <a16:creationId xmlns:a16="http://schemas.microsoft.com/office/drawing/2014/main" id="{32FB374F-6A32-B815-BA2A-53495C6EF895}"/>
              </a:ext>
            </a:extLst>
          </p:cNvPr>
          <p:cNvSpPr txBox="1"/>
          <p:nvPr/>
        </p:nvSpPr>
        <p:spPr>
          <a:xfrm>
            <a:off x="2552700" y="2373021"/>
            <a:ext cx="5829300" cy="707886"/>
          </a:xfrm>
          <a:prstGeom prst="rect">
            <a:avLst/>
          </a:prstGeom>
          <a:noFill/>
        </p:spPr>
        <p:txBody>
          <a:bodyPr wrap="square" rtlCol="0">
            <a:spAutoFit/>
          </a:bodyPr>
          <a:lstStyle/>
          <a:p>
            <a:pPr algn="ctr"/>
            <a:r>
              <a:rPr lang="en-GB" sz="2000">
                <a:latin typeface="Arial" panose="020B0604020202020204" pitchFamily="34" charset="0"/>
                <a:cs typeface="Arial" panose="020B0604020202020204" pitchFamily="34" charset="0"/>
              </a:rPr>
              <a:t>BÁO CÁO THỰC TẬP ĐỒ ÁN CƠ SỞ NGÀNH</a:t>
            </a:r>
          </a:p>
          <a:p>
            <a:pPr algn="ctr"/>
            <a:r>
              <a:rPr lang="en-GB" sz="2000">
                <a:latin typeface="Arial" panose="020B0604020202020204" pitchFamily="34" charset="0"/>
                <a:cs typeface="Arial" panose="020B0604020202020204" pitchFamily="34" charset="0"/>
              </a:rPr>
              <a:t>HỌC KÌ I, NĂM HỌC 2025 - 2026</a:t>
            </a:r>
          </a:p>
        </p:txBody>
      </p:sp>
    </p:spTree>
    <p:extLst>
      <p:ext uri="{BB962C8B-B14F-4D97-AF65-F5344CB8AC3E}">
        <p14:creationId xmlns:p14="http://schemas.microsoft.com/office/powerpoint/2010/main" val="2160291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44F9-7729-349B-968D-BE1F408A25B3}"/>
              </a:ext>
            </a:extLst>
          </p:cNvPr>
          <p:cNvSpPr>
            <a:spLocks noGrp="1"/>
          </p:cNvSpPr>
          <p:nvPr>
            <p:ph type="title"/>
          </p:nvPr>
        </p:nvSpPr>
        <p:spPr>
          <a:xfrm>
            <a:off x="755155" y="0"/>
            <a:ext cx="8596668" cy="533400"/>
          </a:xfrm>
        </p:spPr>
        <p:txBody>
          <a:bodyPr>
            <a:noAutofit/>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Nội Dung</a:t>
            </a:r>
          </a:p>
        </p:txBody>
      </p:sp>
      <p:sp>
        <p:nvSpPr>
          <p:cNvPr id="3" name="Content Placeholder 2">
            <a:extLst>
              <a:ext uri="{FF2B5EF4-FFF2-40B4-BE49-F238E27FC236}">
                <a16:creationId xmlns:a16="http://schemas.microsoft.com/office/drawing/2014/main" id="{71694C0D-C79D-C959-6B28-95E7320F2FEB}"/>
              </a:ext>
            </a:extLst>
          </p:cNvPr>
          <p:cNvSpPr>
            <a:spLocks noGrp="1"/>
          </p:cNvSpPr>
          <p:nvPr>
            <p:ph idx="1"/>
          </p:nvPr>
        </p:nvSpPr>
        <p:spPr>
          <a:xfrm>
            <a:off x="677334" y="1143001"/>
            <a:ext cx="8596668" cy="4898362"/>
          </a:xfrm>
        </p:spPr>
        <p:txBody>
          <a:bodyPr>
            <a:normAutofit/>
          </a:bodyPr>
          <a:lstStyle/>
          <a:p>
            <a:pPr>
              <a:buClrTx/>
              <a:buFont typeface="+mj-lt"/>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Lý do chọn đề tài</a:t>
            </a:r>
          </a:p>
          <a:p>
            <a:pPr>
              <a:buClrTx/>
              <a:buFont typeface="+mj-lt"/>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Mục tiêu, đối tượng và phạm vi nghiên cứu của đồ án</a:t>
            </a:r>
          </a:p>
          <a:p>
            <a:pPr>
              <a:buClrTx/>
              <a:buFont typeface="+mj-lt"/>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Front-end và Back-end là gì</a:t>
            </a:r>
          </a:p>
          <a:p>
            <a:pPr>
              <a:buClrTx/>
              <a:buFont typeface="+mj-lt"/>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MySQL ,UI/UX và PHP là gì</a:t>
            </a: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Quy trình nghiên cứu và phát triển</a:t>
            </a: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Thiết kế kiến trúc hệ thống</a:t>
            </a: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Mô hình MVC</a:t>
            </a:r>
          </a:p>
          <a:p>
            <a:pPr>
              <a:buClrTx/>
              <a:buAutoNum type="arabicPeriod"/>
            </a:pPr>
            <a:r>
              <a:rPr lang="vi-VN" sz="1400">
                <a:solidFill>
                  <a:schemeClr val="tx1"/>
                </a:solidFill>
                <a:latin typeface="Arial" panose="020B0604020202020204" pitchFamily="34" charset="0"/>
                <a:ea typeface="Calibri" panose="020F0502020204030204" pitchFamily="34" charset="0"/>
                <a:cs typeface="Arial" panose="020B0604020202020204" pitchFamily="34" charset="0"/>
              </a:rPr>
              <a:t>Thiết kế cơ sở dữ liệu (ERD)</a:t>
            </a:r>
            <a:endParaRPr lang="en-GB" sz="1400">
              <a:solidFill>
                <a:schemeClr val="tx1"/>
              </a:solidFill>
              <a:latin typeface="Arial" panose="020B0604020202020204" pitchFamily="34" charset="0"/>
              <a:ea typeface="Calibri" panose="020F0502020204030204" pitchFamily="34" charset="0"/>
              <a:cs typeface="Arial" panose="020B0604020202020204" pitchFamily="34" charset="0"/>
            </a:endParaRP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Giao diện trang chủ</a:t>
            </a: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Giao diện đăng nhập và đăng ký</a:t>
            </a:r>
          </a:p>
          <a:p>
            <a:pPr>
              <a:buClrTx/>
              <a:buAutoNum type="arabicPeriod"/>
            </a:pPr>
            <a:r>
              <a:rPr lang="en-GB" sz="1400">
                <a:solidFill>
                  <a:schemeClr val="tx1"/>
                </a:solidFill>
                <a:latin typeface="Arial" panose="020B0604020202020204" pitchFamily="34" charset="0"/>
                <a:ea typeface="Calibri" panose="020F0502020204030204" pitchFamily="34" charset="0"/>
                <a:cs typeface="Arial" panose="020B0604020202020204" pitchFamily="34" charset="0"/>
              </a:rPr>
              <a:t>Giao diện tra cứu</a:t>
            </a:r>
          </a:p>
          <a:p>
            <a:pPr>
              <a:buClrTx/>
              <a:buAutoNum type="arabicPeriod"/>
            </a:pPr>
            <a:r>
              <a:rPr lang="vi-VN" sz="1400">
                <a:solidFill>
                  <a:schemeClr val="tx1"/>
                </a:solidFill>
                <a:latin typeface="Arial" panose="020B0604020202020204" pitchFamily="34" charset="0"/>
                <a:ea typeface="Calibri" panose="020F0502020204030204" pitchFamily="34" charset="0"/>
                <a:cs typeface="Arial" panose="020B0604020202020204" pitchFamily="34" charset="0"/>
              </a:rPr>
              <a:t>Hướng phát triển đề xuất</a:t>
            </a:r>
            <a:endParaRPr lang="en-GB" sz="1400">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9674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EB27C-CF10-2B7C-BD08-2957CA11BFDC}"/>
              </a:ext>
            </a:extLst>
          </p:cNvPr>
          <p:cNvSpPr>
            <a:spLocks noGrp="1"/>
          </p:cNvSpPr>
          <p:nvPr>
            <p:ph type="title"/>
          </p:nvPr>
        </p:nvSpPr>
        <p:spPr>
          <a:xfrm>
            <a:off x="730865" y="0"/>
            <a:ext cx="8596668" cy="643128"/>
          </a:xfrm>
        </p:spPr>
        <p:txBody>
          <a:bodyPr>
            <a:noAutofit/>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Lý do chọn đề tài</a:t>
            </a:r>
            <a:endParaRPr lang="en-GB" sz="4000">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
        <p:nvSpPr>
          <p:cNvPr id="7" name="Rectangle 4">
            <a:extLst>
              <a:ext uri="{FF2B5EF4-FFF2-40B4-BE49-F238E27FC236}">
                <a16:creationId xmlns:a16="http://schemas.microsoft.com/office/drawing/2014/main" id="{7C87B512-0DF0-C14E-7BC2-2E3103549FC9}"/>
              </a:ext>
            </a:extLst>
          </p:cNvPr>
          <p:cNvSpPr>
            <a:spLocks noGrp="1" noChangeArrowheads="1"/>
          </p:cNvSpPr>
          <p:nvPr>
            <p:ph idx="1"/>
          </p:nvPr>
        </p:nvSpPr>
        <p:spPr bwMode="auto">
          <a:xfrm>
            <a:off x="438912" y="1436173"/>
            <a:ext cx="9180575" cy="30931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just">
              <a:buNone/>
            </a:pPr>
            <a:r>
              <a:rPr lang="en-GB" sz="1500"/>
              <a:t>	Trong thời đại chuyển đổi số hiện nay, việc ứng dụng công nghệ thông tin để bảo tồn và phát huy các giá trị văn hóa, lịch sử đã trở thành một xu thế tất yếu. Tỉnh Vĩnh Long là vùng đất có bề dày lịch sử lâu đời với hệ thống di tích phong phú, đa dạng, phản ánh đậm nét quá trình hình thành và phát triển của vùng đất Nam Bộ. Tuy nhiên, việc tiếp cận thông tin của người dân và du khách về các địa danh này hiện còn gặp nhiều trở ngại do nguồn tài liệu còn khá phân tán và chưa được hệ thống hóa một cách bài bản trên không gian số.</a:t>
            </a:r>
          </a:p>
          <a:p>
            <a:pPr marL="0" indent="0" algn="just">
              <a:buNone/>
            </a:pPr>
            <a:endParaRPr lang="en-GB" sz="1500"/>
          </a:p>
          <a:p>
            <a:pPr marL="0" indent="0" algn="just">
              <a:buNone/>
            </a:pPr>
            <a:r>
              <a:rPr lang="en-GB" sz="1500"/>
              <a:t>	Xuất phát từ thực tế đó, đề tài "Xây dựng Website tra cứu các di tích lịch sử tỉnh Vĩnh Long" được lựa chọn nhằm mục tiêu xây dựng một hệ thống thông tin trực tuyến chuyên biệt. Website này đóng vai trò là một kênh thông tin chính thống và trực quan, giúp người dùng khắc phục hoàn toàn những khó khăn khi phải tìm kiếm thông tin theo phương thức thủ công. Thông qua việc số hóa dữ liệu của gần 50 di tích tiêu biểu, hệ thống cung cấp khả năng tra cứu thuận tiện, nhanh chóng và chính xác nhất cho cộng đồng.</a:t>
            </a:r>
          </a:p>
          <a:p>
            <a:pPr marL="0" indent="0" algn="just">
              <a:buNone/>
            </a:pPr>
            <a:r>
              <a:rPr lang="en-US" sz="1500"/>
              <a:t> </a:t>
            </a:r>
            <a:endParaRPr lang="en-GB" sz="1500"/>
          </a:p>
        </p:txBody>
      </p:sp>
    </p:spTree>
    <p:extLst>
      <p:ext uri="{BB962C8B-B14F-4D97-AF65-F5344CB8AC3E}">
        <p14:creationId xmlns:p14="http://schemas.microsoft.com/office/powerpoint/2010/main" val="1758503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54ED3-97AC-1335-893C-6697BD8D298D}"/>
              </a:ext>
            </a:extLst>
          </p:cNvPr>
          <p:cNvSpPr>
            <a:spLocks noGrp="1"/>
          </p:cNvSpPr>
          <p:nvPr>
            <p:ph type="title"/>
          </p:nvPr>
        </p:nvSpPr>
        <p:spPr>
          <a:xfrm>
            <a:off x="293286" y="0"/>
            <a:ext cx="10816674" cy="1054608"/>
          </a:xfrm>
        </p:spPr>
        <p:txBody>
          <a:bodyPr>
            <a:noAutofit/>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Mục tiêu, đối tượng và phạm vi nghiên cứu của đồ án</a:t>
            </a:r>
            <a:b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br>
            <a:b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br>
            <a:endParaRPr lang="en-GB" sz="4000" b="1">
              <a:latin typeface="Arial" panose="020B0604020202020204" pitchFamily="34" charset="0"/>
              <a:ea typeface="Calibri" panose="020F050202020403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56E42DB6-1F98-F657-746A-D3EF4F85977C}"/>
              </a:ext>
            </a:extLst>
          </p:cNvPr>
          <p:cNvSpPr>
            <a:spLocks noGrp="1" noChangeArrowheads="1"/>
          </p:cNvSpPr>
          <p:nvPr>
            <p:ph idx="1"/>
          </p:nvPr>
        </p:nvSpPr>
        <p:spPr bwMode="auto">
          <a:xfrm>
            <a:off x="1815465" y="1325538"/>
            <a:ext cx="7557135" cy="5734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kumimoji="0" lang="en-US" altLang="en-US" sz="15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1.Mục tiêu tổng quát:</a:t>
            </a:r>
          </a:p>
          <a:p>
            <a:pPr marL="0" indent="0">
              <a:buNone/>
            </a:pP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	Xây dựng hoàn chỉnh một hệ thống Website có khả năng cung cấp thông tin chi tiết, hình ảnh và vị trí địa lý của các di tích lịch sử tại Vĩnh Long,.</a:t>
            </a:r>
          </a:p>
          <a:p>
            <a:pPr marL="0" indent="0" algn="just">
              <a:buNone/>
            </a:pP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	Cung cấp công cụ quản trị giúp việc cập nhật, chỉnh sửa thông tin di tích và quản lý người dùng trở nên khoa học và dễ dàng.</a:t>
            </a:r>
          </a:p>
          <a:p>
            <a:pPr marL="0" indent="0">
              <a:buNone/>
            </a:pP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	Nâng cao trải nghiệm người dùng thông qua các tính năng tra cứu thông minh và tích hợp bản đồ chỉ dẫn.</a:t>
            </a:r>
          </a:p>
          <a:p>
            <a:pPr marL="0" indent="0">
              <a:buNone/>
            </a:pP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	Củng cố kỹ năng phân tích thiết kế hệ thống, quy trình phát triển phần mềm thực tế.</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2.Đối tượng và Phạm vi nghiên cứu</a:t>
            </a:r>
            <a:endParaRPr kumimoji="0" lang="en-US"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Đối tượng</a:t>
            </a:r>
            <a:endParaRPr kumimoji="0" lang="en-US"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defTabSz="914400" eaLnBrk="0" fontAlgn="base" hangingPunct="0">
              <a:spcBef>
                <a:spcPct val="0"/>
              </a:spcBef>
              <a:spcAft>
                <a:spcPct val="0"/>
              </a:spcAft>
              <a:buClrTx/>
              <a:buSzTx/>
              <a:buNone/>
            </a:pPr>
            <a:r>
              <a:rPr lang="en-US" altLang="en-US" sz="1500">
                <a:solidFill>
                  <a:schemeClr val="tx1"/>
                </a:solidFill>
                <a:latin typeface="Calibri" panose="020F0502020204030204" pitchFamily="34" charset="0"/>
                <a:ea typeface="Calibri" panose="020F0502020204030204" pitchFamily="34" charset="0"/>
                <a:cs typeface="Calibri" panose="020F0502020204030204" pitchFamily="34" charset="0"/>
              </a:rPr>
              <a:t>	</a:t>
            </a:r>
            <a:r>
              <a:rPr kumimoji="0" lang="en-US"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Thông tin, hình ảnh di tích tại Vĩnh Long (sau sáp nhập 2025).</a:t>
            </a:r>
          </a:p>
          <a:p>
            <a:pPr marL="0" indent="0" defTabSz="914400" eaLnBrk="0" fontAlgn="base" hangingPunct="0">
              <a:spcBef>
                <a:spcPct val="0"/>
              </a:spcBef>
              <a:spcAft>
                <a:spcPct val="0"/>
              </a:spcAft>
              <a:buClrTx/>
              <a:buSzTx/>
              <a:buNone/>
            </a:pPr>
            <a:r>
              <a:rPr lang="en-US" altLang="en-US" sz="1500" b="1">
                <a:solidFill>
                  <a:schemeClr val="tx1"/>
                </a:solidFill>
                <a:latin typeface="Calibri" panose="020F0502020204030204" pitchFamily="34" charset="0"/>
                <a:ea typeface="Calibri" panose="020F0502020204030204" pitchFamily="34" charset="0"/>
                <a:cs typeface="Calibri" panose="020F0502020204030204" pitchFamily="34" charset="0"/>
              </a:rPr>
              <a:t>Phạm vi nghiên cứu</a:t>
            </a:r>
            <a:endParaRPr kumimoji="0" lang="en-US" altLang="en-US" sz="15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a:solidFill>
                  <a:schemeClr val="tx1"/>
                </a:solidFill>
                <a:latin typeface="Calibri" panose="020F0502020204030204" pitchFamily="34" charset="0"/>
                <a:ea typeface="Calibri" panose="020F0502020204030204" pitchFamily="34" charset="0"/>
                <a:cs typeface="Calibri" panose="020F0502020204030204" pitchFamily="34" charset="0"/>
              </a:rPr>
              <a:t>	Phạm vi nội dung: Tập trung vào các chức năng cốt lõi bao gồm: Quản lý thông tin di tích (thêm, xóa, sửa), quản lý tài khoản người dùng, chức năng đăng ký/đăng nhập và hệ thống tra cứu thông tin kèm bản đồ.</a:t>
            </a:r>
            <a:endParaRPr lang="en-GB" sz="150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150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Phạm vi không gian: Các di tích lịch sử trên địa bàn Tỉnh Vĩnh Long.</a:t>
            </a:r>
          </a:p>
          <a:p>
            <a:pPr marL="0" indent="0">
              <a:buNone/>
            </a:pPr>
            <a:r>
              <a:rPr lang="en-US" sz="150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GB" sz="1500">
                <a:solidFill>
                  <a:schemeClr val="tx1"/>
                </a:solidFill>
                <a:latin typeface="Calibri" panose="020F0502020204030204" pitchFamily="34" charset="0"/>
                <a:ea typeface="Calibri" panose="020F0502020204030204" pitchFamily="34" charset="0"/>
                <a:cs typeface="Calibri" panose="020F0502020204030204" pitchFamily="34" charset="0"/>
              </a:rPr>
              <a:t>Phạm vi thời gian: Đề tài được triển khai và hoàn thiện trong vòng 8 tuần, từ ngày 03/11/2025 đến ngày 28/12/2025,.</a:t>
            </a:r>
          </a:p>
          <a:p>
            <a:pPr marL="0" indent="0">
              <a:buNone/>
            </a:pPr>
            <a:r>
              <a:rPr lang="en-US" sz="150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en-GB" sz="150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defTabSz="914400" eaLnBrk="0" fontAlgn="base" hangingPunct="0">
              <a:spcBef>
                <a:spcPct val="0"/>
              </a:spcBef>
              <a:spcAft>
                <a:spcPct val="0"/>
              </a:spcAft>
              <a:buClrTx/>
              <a:buSzTx/>
              <a:buNone/>
            </a:pPr>
            <a:endParaRPr kumimoji="0" lang="en-US" altLang="en-US" sz="15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418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2A4C-3792-483B-7396-E701E6D163DC}"/>
              </a:ext>
            </a:extLst>
          </p:cNvPr>
          <p:cNvSpPr>
            <a:spLocks noGrp="1"/>
          </p:cNvSpPr>
          <p:nvPr>
            <p:ph type="title"/>
          </p:nvPr>
        </p:nvSpPr>
        <p:spPr>
          <a:xfrm>
            <a:off x="1303755" y="0"/>
            <a:ext cx="8596668" cy="1320800"/>
          </a:xfrm>
        </p:spPr>
        <p:txBody>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Front-end và Back-end là gì</a:t>
            </a:r>
            <a:br>
              <a:rPr lang="en-GB">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GB"/>
          </a:p>
        </p:txBody>
      </p:sp>
      <p:sp>
        <p:nvSpPr>
          <p:cNvPr id="3" name="Content Placeholder 2">
            <a:extLst>
              <a:ext uri="{FF2B5EF4-FFF2-40B4-BE49-F238E27FC236}">
                <a16:creationId xmlns:a16="http://schemas.microsoft.com/office/drawing/2014/main" id="{6220C76C-3791-5F75-EDB9-231A663A9C8B}"/>
              </a:ext>
            </a:extLst>
          </p:cNvPr>
          <p:cNvSpPr>
            <a:spLocks noGrp="1"/>
          </p:cNvSpPr>
          <p:nvPr>
            <p:ph idx="1"/>
          </p:nvPr>
        </p:nvSpPr>
        <p:spPr>
          <a:xfrm>
            <a:off x="734484" y="2343150"/>
            <a:ext cx="8596668" cy="3783938"/>
          </a:xfrm>
        </p:spPr>
        <p:txBody>
          <a:bodyPr/>
          <a:lstStyle/>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a:p>
            <a:pPr marL="0" indent="0">
              <a:buNone/>
            </a:pPr>
            <a:endParaRPr lang="en-GB" sz="1500">
              <a:solidFill>
                <a:schemeClr val="tx1"/>
              </a:solidFill>
              <a:latin typeface="Arial" panose="020B0604020202020204" pitchFamily="34" charset="0"/>
              <a:cs typeface="Arial" panose="020B0604020202020204" pitchFamily="34" charset="0"/>
            </a:endParaRPr>
          </a:p>
        </p:txBody>
      </p:sp>
      <p:sp>
        <p:nvSpPr>
          <p:cNvPr id="7" name="Rectangle 4">
            <a:extLst>
              <a:ext uri="{FF2B5EF4-FFF2-40B4-BE49-F238E27FC236}">
                <a16:creationId xmlns:a16="http://schemas.microsoft.com/office/drawing/2014/main" id="{562430F6-03D9-577D-595F-073FB0E51048}"/>
              </a:ext>
            </a:extLst>
          </p:cNvPr>
          <p:cNvSpPr>
            <a:spLocks noChangeArrowheads="1"/>
          </p:cNvSpPr>
          <p:nvPr/>
        </p:nvSpPr>
        <p:spPr bwMode="auto">
          <a:xfrm>
            <a:off x="405342" y="1513091"/>
            <a:ext cx="10605557"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1. Khái niệm Front-end</a:t>
            </a:r>
          </a:p>
          <a:p>
            <a:pPr lvl="1" algn="just"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rPr>
              <a:t>Front-end – Giao diện và Trải nghiệm người dùng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latin typeface="Arial" panose="020B0604020202020204" pitchFamily="34" charset="0"/>
              </a:rPr>
              <a:t>	</a:t>
            </a:r>
            <a:r>
              <a:rPr kumimoji="0" lang="en-US" altLang="en-US" sz="1500" b="1" i="0" u="none" strike="noStrike" cap="none" normalizeH="0" baseline="0">
                <a:ln>
                  <a:noFill/>
                </a:ln>
                <a:solidFill>
                  <a:schemeClr val="tx1"/>
                </a:solidFill>
                <a:effectLst/>
                <a:latin typeface="Arial" panose="020B0604020202020204" pitchFamily="34" charset="0"/>
              </a:rPr>
              <a:t>Khái niệm:</a:t>
            </a:r>
            <a:r>
              <a:rPr kumimoji="0" lang="en-US" altLang="en-US" sz="1500" i="0" u="none" strike="noStrike" cap="none" normalizeH="0" baseline="0">
                <a:ln>
                  <a:noFill/>
                </a:ln>
                <a:solidFill>
                  <a:schemeClr val="tx1"/>
                </a:solidFill>
                <a:effectLst/>
                <a:latin typeface="Arial" panose="020B0604020202020204" pitchFamily="34" charset="0"/>
              </a:rPr>
              <a:t> Là phần giao diện mà người dùng trực tiếp tương tác trên website như màu sắc, hình ảnh, nút bấm và menu điều hướng.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latin typeface="Arial" panose="020B0604020202020204" pitchFamily="34" charset="0"/>
              </a:rPr>
              <a:t>	</a:t>
            </a:r>
            <a:r>
              <a:rPr kumimoji="0" lang="en-US" altLang="en-US" sz="1500" b="1" i="0" u="none" strike="noStrike" cap="none" normalizeH="0" baseline="0">
                <a:ln>
                  <a:noFill/>
                </a:ln>
                <a:solidFill>
                  <a:schemeClr val="tx1"/>
                </a:solidFill>
                <a:effectLst/>
                <a:latin typeface="Arial" panose="020B0604020202020204" pitchFamily="34" charset="0"/>
              </a:rPr>
              <a:t>Nhiệm vụ chính: </a:t>
            </a:r>
            <a:r>
              <a:rPr kumimoji="0" lang="en-US" altLang="en-US" sz="1500" i="0" u="none" strike="noStrike" cap="none" normalizeH="0" baseline="0">
                <a:ln>
                  <a:noFill/>
                </a:ln>
                <a:solidFill>
                  <a:schemeClr val="tx1"/>
                </a:solidFill>
                <a:effectLst/>
                <a:latin typeface="Arial" panose="020B0604020202020204" pitchFamily="34" charset="0"/>
              </a:rPr>
              <a:t>Đảm bảo khả năng đáp ứng (responsiveness), hiệu suất hoạt động và tối ưu hóa hiển thị trên các loại thiết bị và kích thước màn hình khác nhau.</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i="0" u="none" strike="noStrike" cap="none" normalizeH="0" baseline="0">
              <a:ln>
                <a:noFill/>
              </a:ln>
              <a:solidFill>
                <a:schemeClr val="tx1"/>
              </a:solidFill>
              <a:effectLst/>
              <a:latin typeface="Arial" panose="020B0604020202020204" pitchFamily="34" charset="0"/>
            </a:endParaRPr>
          </a:p>
          <a:p>
            <a:pPr lvl="1" algn="just"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rPr>
              <a:t>Bộ ba ngôn ngữ cốt lõi:</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latin typeface="Arial" panose="020B0604020202020204" pitchFamily="34" charset="0"/>
              </a:rPr>
              <a:t>	HTML: Ngôn ngữ đánh dấu siêu văn bản, dùng để xây dựng và cấu trúc các thành phần của trang web.</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latin typeface="Arial" panose="020B0604020202020204" pitchFamily="34" charset="0"/>
              </a:rPr>
              <a:t>	CSS: Ngôn ngữ tạo phong cách, giúp định dạng bố cục, màu sắc và phông chữ cho các phần tử HTML.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latin typeface="Arial" panose="020B0604020202020204" pitchFamily="34" charset="0"/>
              </a:rPr>
              <a:t>	JavaScript: Ngôn ngữ lập trình kịch bản giúp tạo ra các tính năng tương tác động phía máy khách.</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500" b="1">
                <a:latin typeface="Arial" panose="020B0604020202020204" pitchFamily="34" charset="0"/>
              </a:rPr>
              <a:t>Front-end hỗ trợ Back-end</a:t>
            </a:r>
            <a:endParaRPr kumimoji="0" lang="en-US" altLang="en-US" sz="1500" b="1" i="0" u="none" strike="noStrike" cap="none" normalizeH="0" baseline="0">
              <a:ln>
                <a:noFill/>
              </a:ln>
              <a:solidFill>
                <a:schemeClr val="tx1"/>
              </a:solidFill>
              <a:effectLst/>
              <a:latin typeface="Arial" panose="020B0604020202020204" pitchFamily="34" charset="0"/>
            </a:endParaRPr>
          </a:p>
          <a:p>
            <a:pPr algn="just" defTabSz="914400" eaLnBrk="0" fontAlgn="base" hangingPunct="0">
              <a:spcBef>
                <a:spcPct val="0"/>
              </a:spcBef>
              <a:spcAft>
                <a:spcPct val="0"/>
              </a:spcAft>
            </a:pPr>
            <a:r>
              <a:rPr lang="en-GB"/>
              <a:t>	</a:t>
            </a:r>
            <a:r>
              <a:rPr lang="en-GB" sz="1500" b="1">
                <a:latin typeface="Arial" panose="020B0604020202020204" pitchFamily="34" charset="0"/>
                <a:cs typeface="Arial" panose="020B0604020202020204" pitchFamily="34" charset="0"/>
              </a:rPr>
              <a:t>Front-end giúp giảm tải cho Back-end </a:t>
            </a:r>
            <a:r>
              <a:rPr lang="en-GB" sz="1500">
                <a:latin typeface="Arial" panose="020B0604020202020204" pitchFamily="34" charset="0"/>
                <a:cs typeface="Arial" panose="020B0604020202020204" pitchFamily="34" charset="0"/>
              </a:rPr>
              <a:t>bằng cách thực hiện kiểm tra dữ liệu đầu vào (độ dài, định dạng), chuẩn hóa dữ liệu gửi lên theo đúng cấu trúc API, phản hồi lỗi rõ ràng để Back-end dễ debug, đồng thời tối ưu trải nghiệm người dùng qua loading và cache phía client. Nhờ có Front-end tốt, Back-end ít lỗi hơn và hiệu năng hệ thống cao hơn.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50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3074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7387ED2-BADE-4D94-18C9-B8D289822655}"/>
              </a:ext>
            </a:extLst>
          </p:cNvPr>
          <p:cNvSpPr>
            <a:spLocks noGrp="1" noChangeArrowheads="1"/>
          </p:cNvSpPr>
          <p:nvPr>
            <p:ph idx="1"/>
          </p:nvPr>
        </p:nvSpPr>
        <p:spPr bwMode="auto">
          <a:xfrm>
            <a:off x="487363" y="394585"/>
            <a:ext cx="9799637"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2.Khái niệm Back-end</a:t>
            </a:r>
          </a:p>
          <a:p>
            <a:pPr marL="400050" lvl="1" indent="0" algn="just" defTabSz="914400">
              <a:buClrTx/>
              <a:buSzTx/>
              <a:buNone/>
            </a:pP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Back-end – Xử lý logic và Quản trị dữ liệu</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	</a:t>
            </a: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Khái niệm: </a:t>
            </a: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Là phần "phía máy chủ" mà người dùng không nhìn thấy, đóng vai trò xử lý dữ liệu và đảm bảo hệ thống vận hành mượt mà.</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	</a:t>
            </a: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Trách nhiệm cốt lõi: </a:t>
            </a: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Xử lý logic nghiệp vụ, quản lý cơ sở dữ liệu, đảm bảo bảo mật và phát triển API để liên lạc với Front-end.</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Công nghệ sử dụng trong đồ án: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	PHP: Ngôn ngữ kịch bản mã nguồn mở dùng để xử lý logic phía server, có khả năng kết nối hiệu quả với cơ sở dữ liệu và xử lý các yêu cầu (request) nhanh chóng.</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 	MySQL: Hệ quản trị cơ sở dữ liệu dùng để lưu trữ ,quản lý thông tin của 47 di tích lịch sử và dữ liệu người dùng.</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500" b="1">
                <a:ea typeface="Calibri" panose="020F0502020204030204" pitchFamily="34" charset="0"/>
                <a:cs typeface="Arial" panose="020B0604020202020204" pitchFamily="34" charset="0"/>
              </a:rPr>
              <a:t>Back-end hỗ trợ Front-end</a:t>
            </a:r>
            <a:endPar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endParaRPr>
          </a:p>
          <a:p>
            <a:pPr marL="0" indent="0">
              <a:buNone/>
            </a:pPr>
            <a:r>
              <a:rPr lang="en-GB" sz="1500"/>
              <a:t>		</a:t>
            </a:r>
            <a:r>
              <a:rPr lang="en-GB" sz="1500" b="1"/>
              <a:t>Back-end hỗ trợ Front-end </a:t>
            </a:r>
            <a:r>
              <a:rPr lang="en-GB" sz="1500"/>
              <a:t>bằng việc cung cấp API rõ ràng, ổn định, trả dữ liệu đúng – đủ – nhất quán. Ngoài ra, Back-end đảm bảo bảo mật (JWT, session, OAuth…) và xử lý các logic phức tạp, giúp Front-end nhẹ hơn. Nhờ Back-end tốt, Front-end dễ phát triển, dễ mở rộng và mang lại trải nghiệm mượt mà cho người dùng.</a:t>
            </a:r>
          </a:p>
          <a:p>
            <a:pPr marL="0" indent="0">
              <a:buNone/>
            </a:pPr>
            <a:r>
              <a:rPr lang="en-GB" sz="1500" b="1"/>
              <a:t> </a:t>
            </a:r>
            <a:endPar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ea typeface="Calibri" panose="020F0502020204030204" pitchFamily="34" charset="0"/>
                <a:cs typeface="Arial" panose="020B0604020202020204" pitchFamily="34" charset="0"/>
              </a:rPr>
              <a:t>Quy trình hoạt động: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i="0" u="none" strike="noStrike" cap="none" normalizeH="0" baseline="0">
                <a:ln>
                  <a:noFill/>
                </a:ln>
                <a:solidFill>
                  <a:schemeClr val="tx1"/>
                </a:solidFill>
                <a:effectLst/>
                <a:ea typeface="Calibri" panose="020F0502020204030204" pitchFamily="34" charset="0"/>
                <a:cs typeface="Arial" panose="020B0604020202020204" pitchFamily="34" charset="0"/>
              </a:rPr>
              <a:t>Nhận yêu cầu từ người dùng → Xác thực và xử lý logic → Truy vấn cơ sở dữ liệu → Phản hồi kết quả.</a:t>
            </a:r>
          </a:p>
        </p:txBody>
      </p:sp>
    </p:spTree>
    <p:extLst>
      <p:ext uri="{BB962C8B-B14F-4D97-AF65-F5344CB8AC3E}">
        <p14:creationId xmlns:p14="http://schemas.microsoft.com/office/powerpoint/2010/main" val="170529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white and black text on a white background&#10;&#10;AI-generated content may be incorrect.">
            <a:extLst>
              <a:ext uri="{FF2B5EF4-FFF2-40B4-BE49-F238E27FC236}">
                <a16:creationId xmlns:a16="http://schemas.microsoft.com/office/drawing/2014/main" id="{0A34CF05-4C47-AE0D-A916-A2ADF730E800}"/>
              </a:ext>
            </a:extLst>
          </p:cNvPr>
          <p:cNvPicPr>
            <a:picLocks noGrp="1" noChangeAspect="1"/>
          </p:cNvPicPr>
          <p:nvPr>
            <p:ph idx="1"/>
          </p:nvPr>
        </p:nvPicPr>
        <p:blipFill>
          <a:blip r:embed="rId2"/>
          <a:stretch>
            <a:fillRect/>
          </a:stretch>
        </p:blipFill>
        <p:spPr>
          <a:xfrm>
            <a:off x="2902352" y="1076326"/>
            <a:ext cx="4117573" cy="4541058"/>
          </a:xfrm>
          <a:prstGeom prst="rect">
            <a:avLst/>
          </a:prstGeom>
        </p:spPr>
      </p:pic>
      <p:sp>
        <p:nvSpPr>
          <p:cNvPr id="8" name="TextBox 7">
            <a:extLst>
              <a:ext uri="{FF2B5EF4-FFF2-40B4-BE49-F238E27FC236}">
                <a16:creationId xmlns:a16="http://schemas.microsoft.com/office/drawing/2014/main" id="{E86EC9DB-AD83-B3C4-BD30-35125E74AD18}"/>
              </a:ext>
            </a:extLst>
          </p:cNvPr>
          <p:cNvSpPr txBox="1"/>
          <p:nvPr/>
        </p:nvSpPr>
        <p:spPr>
          <a:xfrm>
            <a:off x="485774" y="414084"/>
            <a:ext cx="4117573" cy="323165"/>
          </a:xfrm>
          <a:prstGeom prst="rect">
            <a:avLst/>
          </a:prstGeom>
          <a:noFill/>
        </p:spPr>
        <p:txBody>
          <a:bodyPr wrap="square" rtlCol="0">
            <a:spAutoFit/>
          </a:bodyPr>
          <a:lstStyle/>
          <a:p>
            <a:r>
              <a:rPr lang="en-GB" sz="1500" b="1">
                <a:latin typeface="Arial" panose="020B0604020202020204" pitchFamily="34" charset="0"/>
                <a:ea typeface="Calibri" panose="020F0502020204030204" pitchFamily="34" charset="0"/>
                <a:cs typeface="Arial" panose="020B0604020202020204" pitchFamily="34" charset="0"/>
              </a:rPr>
              <a:t>3.So sánh Front-end và Back-end</a:t>
            </a:r>
          </a:p>
        </p:txBody>
      </p:sp>
    </p:spTree>
    <p:extLst>
      <p:ext uri="{BB962C8B-B14F-4D97-AF65-F5344CB8AC3E}">
        <p14:creationId xmlns:p14="http://schemas.microsoft.com/office/powerpoint/2010/main" val="2502236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90F0-1F44-EDE8-391E-A65D5F228427}"/>
              </a:ext>
            </a:extLst>
          </p:cNvPr>
          <p:cNvSpPr>
            <a:spLocks noGrp="1"/>
          </p:cNvSpPr>
          <p:nvPr>
            <p:ph type="title"/>
          </p:nvPr>
        </p:nvSpPr>
        <p:spPr>
          <a:xfrm>
            <a:off x="963084" y="219075"/>
            <a:ext cx="8596668" cy="1320800"/>
          </a:xfrm>
        </p:spPr>
        <p:txBody>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MySQL, UI/UX và PHP là gì</a:t>
            </a:r>
            <a:br>
              <a:rPr lang="en-GB">
                <a:solidFill>
                  <a:schemeClr val="tx1"/>
                </a:solidFill>
                <a:latin typeface="Arial" panose="020B0604020202020204" pitchFamily="34" charset="0"/>
                <a:ea typeface="Calibri" panose="020F0502020204030204" pitchFamily="34" charset="0"/>
                <a:cs typeface="Arial" panose="020B0604020202020204" pitchFamily="34" charset="0"/>
              </a:rPr>
            </a:br>
            <a:endParaRPr lang="en-GB"/>
          </a:p>
        </p:txBody>
      </p:sp>
      <p:sp>
        <p:nvSpPr>
          <p:cNvPr id="4" name="Rectangle 1">
            <a:extLst>
              <a:ext uri="{FF2B5EF4-FFF2-40B4-BE49-F238E27FC236}">
                <a16:creationId xmlns:a16="http://schemas.microsoft.com/office/drawing/2014/main" id="{6DE95CFE-7A11-A277-5F48-64529E89420D}"/>
              </a:ext>
            </a:extLst>
          </p:cNvPr>
          <p:cNvSpPr>
            <a:spLocks noChangeArrowheads="1"/>
          </p:cNvSpPr>
          <p:nvPr/>
        </p:nvSpPr>
        <p:spPr bwMode="auto">
          <a:xfrm>
            <a:off x="677334" y="1270000"/>
            <a:ext cx="954299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1.MySQL – Hệ quản trị cơ sở dữ liệu quan hệ</a:t>
            </a:r>
            <a:endParaRPr kumimoji="0" lang="en-US" altLang="en-US" sz="1800" b="0" i="0" u="none" strike="noStrike" cap="none" normalizeH="0" baseline="0">
              <a:ln>
                <a:noFill/>
              </a:ln>
              <a:solidFill>
                <a:schemeClr val="tx1"/>
              </a:solidFill>
              <a:effectLst/>
              <a:latin typeface="Arial" panose="020B0604020202020204" pitchFamily="34" charset="0"/>
            </a:endParaRPr>
          </a:p>
          <a:p>
            <a:pPr lvl="1" algn="just" defTabSz="914400" eaLnBrk="0" fontAlgn="base" hangingPunct="0">
              <a:spcBef>
                <a:spcPct val="0"/>
              </a:spcBef>
              <a:spcAft>
                <a:spcPct val="0"/>
              </a:spcAft>
            </a:pPr>
            <a:r>
              <a:rPr kumimoji="0" lang="en-US" altLang="en-US" b="1" i="0" u="none" strike="noStrike" cap="none" normalizeH="0" baseline="0">
                <a:ln>
                  <a:noFill/>
                </a:ln>
                <a:solidFill>
                  <a:schemeClr val="tx1"/>
                </a:solidFill>
                <a:effectLst/>
                <a:latin typeface="Arial" panose="020B0604020202020204" pitchFamily="34" charset="0"/>
              </a:rPr>
              <a:t>Khái niệm cơ bản:</a:t>
            </a:r>
          </a:p>
          <a:p>
            <a:pPr lvl="1" algn="just" defTabSz="914400" eaLnBrk="0" fontAlgn="base" hangingPunct="0">
              <a:spcBef>
                <a:spcPct val="0"/>
              </a:spcBef>
              <a:spcAft>
                <a:spcPct val="0"/>
              </a:spcAft>
            </a:pPr>
            <a:r>
              <a:rPr lang="en-US" altLang="en-US" b="1">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r>
              <a:rPr kumimoji="0" lang="en-US" altLang="en-US" i="0" u="none" strike="noStrike" cap="none" normalizeH="0" baseline="0">
                <a:ln>
                  <a:noFill/>
                </a:ln>
                <a:solidFill>
                  <a:schemeClr val="tx1"/>
                </a:solidFill>
                <a:effectLst/>
                <a:latin typeface="Arial" panose="020B0604020202020204" pitchFamily="34" charset="0"/>
              </a:rPr>
              <a:t>MySQL là một hệ quản trị cơ sở dữ liệu quan hệ (RDBMS) mã nguồn mở hoạt động theo mô hình client–server.</a:t>
            </a:r>
          </a:p>
          <a:p>
            <a:pPr lvl="1" algn="just" defTabSz="914400" eaLnBrk="0" fontAlgn="base" hangingPunct="0">
              <a:spcBef>
                <a:spcPct val="0"/>
              </a:spcBef>
              <a:spcAft>
                <a:spcPct val="0"/>
              </a:spcAft>
            </a:pPr>
            <a:r>
              <a:rPr kumimoji="0" lang="en-US" altLang="en-US" b="1" i="0" u="none" strike="noStrike" cap="none" normalizeH="0" baseline="0">
                <a:ln>
                  <a:noFill/>
                </a:ln>
                <a:solidFill>
                  <a:schemeClr val="tx1"/>
                </a:solidFill>
                <a:effectLst/>
                <a:latin typeface="Arial" panose="020B0604020202020204" pitchFamily="34" charset="0"/>
              </a:rPr>
              <a:t>Thành phần của SQL:</a:t>
            </a:r>
          </a:p>
          <a:p>
            <a:pPr lvl="1" algn="just" defTabSz="914400" eaLnBrk="0" fontAlgn="base" hangingPunct="0">
              <a:spcBef>
                <a:spcPct val="0"/>
              </a:spcBef>
              <a:spcAft>
                <a:spcPct val="0"/>
              </a:spcAft>
            </a:pPr>
            <a:r>
              <a:rPr lang="en-US" altLang="en-US" b="1">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Bao gồm ba phần chính là định nghĩa dữ liệu (xác định table, view...), thao tác dữ liệu (cập nhật, truy vấn) và điều khiển dữ liệu (cấp quyền truy cập).</a:t>
            </a:r>
          </a:p>
          <a:p>
            <a:pPr lvl="1" algn="just" defTabSz="914400" eaLnBrk="0" fontAlgn="base" hangingPunct="0">
              <a:spcBef>
                <a:spcPct val="0"/>
              </a:spcBef>
              <a:spcAft>
                <a:spcPct val="0"/>
              </a:spcAft>
            </a:pPr>
            <a:r>
              <a:rPr kumimoji="0" lang="en-US" altLang="en-US" b="1" i="0" u="none" strike="noStrike" cap="none" normalizeH="0" baseline="0">
                <a:ln>
                  <a:noFill/>
                </a:ln>
                <a:solidFill>
                  <a:schemeClr val="tx1"/>
                </a:solidFill>
                <a:effectLst/>
                <a:latin typeface="Arial" panose="020B0604020202020204" pitchFamily="34" charset="0"/>
              </a:rPr>
              <a:t>Ưu điểm nổi bật:</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	An toàn:</a:t>
            </a:r>
            <a:r>
              <a:rPr kumimoji="0" lang="en-US" altLang="en-US" sz="1800" b="0" i="0" u="none" strike="noStrike" cap="none" normalizeH="0" baseline="0">
                <a:ln>
                  <a:noFill/>
                </a:ln>
                <a:solidFill>
                  <a:schemeClr val="tx1"/>
                </a:solidFill>
                <a:effectLst/>
                <a:latin typeface="Arial" panose="020B0604020202020204" pitchFamily="34" charset="0"/>
              </a:rPr>
              <a:t> Sở hữu nhiều tính năng bảo mật cấp cao và mã hóa thông tin.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	Dễ sử dụng:</a:t>
            </a:r>
            <a:r>
              <a:rPr kumimoji="0" lang="en-US" altLang="en-US" sz="1800" b="0" i="0" u="none" strike="noStrike" cap="none" normalizeH="0" baseline="0">
                <a:ln>
                  <a:noFill/>
                </a:ln>
                <a:solidFill>
                  <a:schemeClr val="tx1"/>
                </a:solidFill>
                <a:effectLst/>
                <a:latin typeface="Arial" panose="020B0604020202020204" pitchFamily="34" charset="0"/>
              </a:rPr>
              <a:t> Hoạt động ổn định trên nhiều hệ điều hành với hệ thống hàm tiện ích phong phú.</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	Hiệu năng &amp; Mở rộng:</a:t>
            </a:r>
            <a:r>
              <a:rPr kumimoji="0" lang="en-US" altLang="en-US" sz="1800" b="0" i="0" u="none" strike="noStrike" cap="none" normalizeH="0" baseline="0">
                <a:ln>
                  <a:noFill/>
                </a:ln>
                <a:solidFill>
                  <a:schemeClr val="tx1"/>
                </a:solidFill>
                <a:effectLst/>
                <a:latin typeface="Arial" panose="020B0604020202020204" pitchFamily="34" charset="0"/>
              </a:rPr>
              <a:t>Khả năng xử lý lượng dữ liệu lớn và linh hoạt mở rộng khi cần thiết.</a:t>
            </a:r>
          </a:p>
          <a:p>
            <a:pPr lvl="1" algn="just" defTabSz="914400" eaLnBrk="0" fontAlgn="base" hangingPunct="0">
              <a:spcBef>
                <a:spcPct val="0"/>
              </a:spcBef>
              <a:spcAft>
                <a:spcPct val="0"/>
              </a:spcAft>
            </a:pPr>
            <a:r>
              <a:rPr kumimoji="0" lang="en-US" altLang="en-US" b="1" i="0" u="none" strike="noStrike" cap="none" normalizeH="0" baseline="0">
                <a:ln>
                  <a:noFill/>
                </a:ln>
                <a:solidFill>
                  <a:schemeClr val="tx1"/>
                </a:solidFill>
                <a:effectLst/>
                <a:latin typeface="Arial" panose="020B0604020202020204" pitchFamily="34" charset="0"/>
              </a:rPr>
              <a:t>Hạn chế</a:t>
            </a:r>
            <a:endParaRPr kumimoji="0" lang="en-US" altLang="en-US" b="0" i="0" u="none" strike="noStrike" cap="none" normalizeH="0" baseline="0">
              <a:ln>
                <a:noFill/>
              </a:ln>
              <a:solidFill>
                <a:schemeClr val="tx1"/>
              </a:solidFill>
              <a:effectLst/>
              <a:latin typeface="Arial" panose="020B0604020202020204" pitchFamily="34" charset="0"/>
            </a:endParaRPr>
          </a:p>
          <a:p>
            <a:pPr lvl="1" algn="just" defTabSz="914400" eaLnBrk="0" fontAlgn="base" hangingPunct="0">
              <a:spcBef>
                <a:spcPct val="0"/>
              </a:spcBef>
              <a:spcAft>
                <a:spcPct val="0"/>
              </a:spcAft>
            </a:pPr>
            <a:r>
              <a:rPr kumimoji="0" lang="en-US" altLang="en-US" b="0" i="0" u="none" strike="noStrike" cap="none" normalizeH="0" baseline="0">
                <a:ln>
                  <a:noFill/>
                </a:ln>
                <a:solidFill>
                  <a:schemeClr val="tx1"/>
                </a:solidFill>
                <a:effectLst/>
                <a:latin typeface="Arial" panose="020B0604020202020204" pitchFamily="34" charset="0"/>
              </a:rPr>
              <a:t>	Khi số bản ghi quá lớn, việc truy xuất dữ liệu có thể trở nên phức tạp và cần các thủ thuật tối ưu hóa để duy trì tốc độ.</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198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A4D5ED8-A2A8-AD19-B972-369E88313592}"/>
              </a:ext>
            </a:extLst>
          </p:cNvPr>
          <p:cNvSpPr>
            <a:spLocks noGrp="1" noChangeArrowheads="1"/>
          </p:cNvSpPr>
          <p:nvPr>
            <p:ph idx="1"/>
          </p:nvPr>
        </p:nvSpPr>
        <p:spPr bwMode="auto">
          <a:xfrm>
            <a:off x="429683" y="731179"/>
            <a:ext cx="10019241"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2. UX/UI – Giao diện và Trải nghiệm người dùng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Khái niệm cốt lõi:</a:t>
            </a:r>
            <a:r>
              <a:rPr kumimoji="0" lang="en-US" altLang="en-US" sz="1500" b="0" i="0" u="none" strike="noStrike" cap="none" normalizeH="0" baseline="0">
                <a:ln>
                  <a:noFill/>
                </a:ln>
                <a:solidFill>
                  <a:schemeClr val="tx1"/>
                </a:solidFill>
                <a:effectLst/>
                <a:latin typeface="Arial" panose="020B0604020202020204" pitchFamily="34" charset="0"/>
              </a:rPr>
              <a:t>màu sắc, kiểu chữ, bố cục để tạo sự thu hút và trực quan.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UX (User Experience):</a:t>
            </a:r>
            <a:r>
              <a:rPr kumimoji="0" lang="en-US" altLang="en-US" sz="1500" b="0" i="0" u="none" strike="noStrike" cap="none" normalizeH="0" baseline="0">
                <a:ln>
                  <a:noFill/>
                </a:ln>
                <a:solidFill>
                  <a:schemeClr val="tx1"/>
                </a:solidFill>
                <a:effectLst/>
                <a:latin typeface="Arial" panose="020B0604020202020204" pitchFamily="34" charset="0"/>
              </a:rPr>
              <a:t> Là trải nghiệm người dùng, tập trung vào </a:t>
            </a:r>
            <a:r>
              <a:rPr kumimoji="0" lang="en-US" altLang="en-US" sz="1500" b="1" i="0" u="none" strike="noStrike" cap="none" normalizeH="0" baseline="0">
                <a:ln>
                  <a:noFill/>
                </a:ln>
                <a:solidFill>
                  <a:schemeClr val="tx1"/>
                </a:solidFill>
                <a:effectLst/>
                <a:latin typeface="Arial" panose="020B0604020202020204" pitchFamily="34" charset="0"/>
              </a:rPr>
              <a:t>"Cảm giác"</a:t>
            </a:r>
            <a:r>
              <a:rPr kumimoji="0" lang="en-US" altLang="en-US" sz="1500" b="0" i="0" u="none" strike="noStrike" cap="none" normalizeH="0" baseline="0">
                <a:ln>
                  <a:noFill/>
                </a:ln>
                <a:solidFill>
                  <a:schemeClr val="tx1"/>
                </a:solidFill>
                <a:effectLst/>
                <a:latin typeface="Arial" panose="020B0604020202020204" pitchFamily="34" charset="0"/>
              </a:rPr>
              <a:t> thông qua sự tiện lợi, tốc độ và logic điều hướng để đảm bảo sản phẩm dễ sử dụng.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Vai trò và Tầm quan trọng:</a:t>
            </a:r>
            <a:r>
              <a:rPr kumimoji="0" lang="en-US" altLang="en-US" sz="1500" b="0" i="0" u="none" strike="noStrike" cap="none" normalizeH="0" baseline="0">
                <a:ln>
                  <a:noFill/>
                </a:ln>
                <a:solidFill>
                  <a:schemeClr val="tx1"/>
                </a:solidFill>
                <a:effectLst/>
                <a:latin typeface="Arial" panose="020B0604020202020204" pitchFamily="34" charset="0"/>
              </a:rPr>
              <a:t>Là "xương sống" quyết định sự thành bại vì đây là điểm chạm duy nhất giữa công nghệ và con người.Giúp người dùng đạt được mục đích nhanh nhất, tạo cảm giác hài lòng và gắn bó với sản phẩm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8289F796-473F-57A6-E065-775C5D355D78}"/>
              </a:ext>
            </a:extLst>
          </p:cNvPr>
          <p:cNvSpPr>
            <a:spLocks noChangeArrowheads="1"/>
          </p:cNvSpPr>
          <p:nvPr/>
        </p:nvSpPr>
        <p:spPr bwMode="auto">
          <a:xfrm rot="10800000" flipV="1">
            <a:off x="519214" y="2880623"/>
            <a:ext cx="875813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500" b="1">
                <a:latin typeface="Arial" panose="020B0604020202020204" pitchFamily="34" charset="0"/>
                <a:cs typeface="Arial" panose="020B0604020202020204" pitchFamily="34" charset="0"/>
              </a:rPr>
              <a:t>3</a:t>
            </a: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PHP</a:t>
            </a:r>
          </a:p>
          <a:p>
            <a:pPr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Khái niệm:</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Là một </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ngôn ngữ lập trình kịch bản (scripting language) mã nguồn mở</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thuộc tập hợp con của các ngôn ngữ script như JavaScript và Python.</a:t>
            </a:r>
          </a:p>
          <a:p>
            <a:pPr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Vị trí xử lý:</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Chủ yếu được dùng để phát triển </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các ứng dụng phía server (backend</a:t>
            </a:r>
            <a:r>
              <a:rPr lang="en-US" altLang="en-US" sz="1500">
                <a:latin typeface="Arial" panose="020B0604020202020204" pitchFamily="34" charset="0"/>
                <a:cs typeface="Arial" panose="020B0604020202020204" pitchFamily="34" charset="0"/>
              </a:rPr>
              <a:t>)</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chịu trách nhiệm xử lý logic và quản lý cơ sở dữ liệu.</a:t>
            </a:r>
          </a:p>
          <a:p>
            <a:pPr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Cách thức hoạt động:</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Các tệp lệnh PHP chỉ có thể diễn giải trên một máy chủ đã cài đặt PHP và có thể nhúng trực tiếp vào trang HTML thông qua cặp thẻ </a:t>
            </a:r>
            <a:r>
              <a:rPr kumimoji="0" lang="en-US" altLang="en-US" sz="1500" i="0" u="none" strike="noStrike" cap="none" normalizeH="0" baseline="0">
                <a:ln>
                  <a:noFill/>
                </a:ln>
                <a:solidFill>
                  <a:srgbClr val="282A2C"/>
                </a:solidFill>
                <a:effectLst/>
                <a:latin typeface="Arial" panose="020B0604020202020204" pitchFamily="34" charset="0"/>
                <a:cs typeface="Arial" panose="020B0604020202020204" pitchFamily="34" charset="0"/>
              </a:rPr>
              <a:t>&lt;?php ?&gt;</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a:t>
            </a:r>
          </a:p>
          <a:p>
            <a:pPr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Ưu điểm:</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Dễ học, miễn phí, linh hoạt trên nhiều hệ điều hành và kết nối cực kỳ hiệu quả với các cơ sở dữ liệu như </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MySQL</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PostgreSQL.</a:t>
            </a:r>
          </a:p>
          <a:p>
            <a:pPr defTabSz="914400" eaLnBrk="0" fontAlgn="base" hangingPunct="0">
              <a:spcBef>
                <a:spcPct val="0"/>
              </a:spcBef>
              <a:spcAft>
                <a:spcPct val="0"/>
              </a:spcAft>
            </a:pPr>
            <a:r>
              <a:rPr kumimoji="0" lang="en-US" altLang="en-US" sz="1500" b="1" i="0" u="none" strike="noStrike" cap="none" normalizeH="0" baseline="0">
                <a:ln>
                  <a:noFill/>
                </a:ln>
                <a:solidFill>
                  <a:schemeClr val="tx1"/>
                </a:solidFill>
                <a:effectLst/>
                <a:latin typeface="Arial" panose="020B0604020202020204" pitchFamily="34" charset="0"/>
                <a:cs typeface="Arial" panose="020B0604020202020204" pitchFamily="34" charset="0"/>
              </a:rPr>
              <a:t>      Ứng dụng thực tế:</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 Là nền tảng cốt lõi của các hệ quản trị nội dung (</a:t>
            </a:r>
            <a:r>
              <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rPr>
              <a:t>CMS) </a:t>
            </a:r>
            <a:r>
              <a:rPr kumimoji="0" lang="en-US" altLang="en-US" sz="1500" b="0" i="0" u="none" strike="noStrike" cap="none" normalizeH="0" baseline="0">
                <a:ln>
                  <a:noFill/>
                </a:ln>
                <a:solidFill>
                  <a:schemeClr val="tx1"/>
                </a:solidFill>
                <a:effectLst/>
                <a:latin typeface="Arial" panose="020B0604020202020204" pitchFamily="34" charset="0"/>
                <a:cs typeface="Arial" panose="020B0604020202020204" pitchFamily="34" charset="0"/>
              </a:rPr>
              <a:t>phổ biến như WordPress, Joomla và được dùng để xây dựng các dòng lệnh thực thi hoặc cấu hình hệ thống máy chủ.</a:t>
            </a:r>
          </a:p>
        </p:txBody>
      </p:sp>
    </p:spTree>
    <p:extLst>
      <p:ext uri="{BB962C8B-B14F-4D97-AF65-F5344CB8AC3E}">
        <p14:creationId xmlns:p14="http://schemas.microsoft.com/office/powerpoint/2010/main" val="1199020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C323-31B0-6834-1C15-D401C5179391}"/>
              </a:ext>
            </a:extLst>
          </p:cNvPr>
          <p:cNvSpPr>
            <a:spLocks noGrp="1"/>
          </p:cNvSpPr>
          <p:nvPr>
            <p:ph type="title"/>
          </p:nvPr>
        </p:nvSpPr>
        <p:spPr>
          <a:xfrm>
            <a:off x="677334" y="609600"/>
            <a:ext cx="9057216" cy="1320800"/>
          </a:xfrm>
        </p:spPr>
        <p:txBody>
          <a:bodyPr>
            <a:normAutofit/>
          </a:bodyPr>
          <a:lstStyle/>
          <a:p>
            <a:r>
              <a:rPr lang="en-GB" sz="4000" b="1">
                <a:solidFill>
                  <a:schemeClr val="tx1"/>
                </a:solidFill>
                <a:latin typeface="Arial" panose="020B0604020202020204" pitchFamily="34" charset="0"/>
                <a:cs typeface="Arial" panose="020B0604020202020204" pitchFamily="34" charset="0"/>
              </a:rPr>
              <a:t>Quy Trình Nghiên Cứu Và Phát Triển</a:t>
            </a:r>
          </a:p>
        </p:txBody>
      </p:sp>
      <p:sp>
        <p:nvSpPr>
          <p:cNvPr id="4" name="Rectangle 1">
            <a:extLst>
              <a:ext uri="{FF2B5EF4-FFF2-40B4-BE49-F238E27FC236}">
                <a16:creationId xmlns:a16="http://schemas.microsoft.com/office/drawing/2014/main" id="{77161BDF-CF6F-971D-E6DE-042A8275DB8E}"/>
              </a:ext>
            </a:extLst>
          </p:cNvPr>
          <p:cNvSpPr>
            <a:spLocks noGrp="1" noChangeArrowheads="1"/>
          </p:cNvSpPr>
          <p:nvPr>
            <p:ph idx="1"/>
          </p:nvPr>
        </p:nvSpPr>
        <p:spPr bwMode="auto">
          <a:xfrm>
            <a:off x="761999" y="1518407"/>
            <a:ext cx="8972551"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Quy trình nghiên cứu và phát triển</a:t>
            </a:r>
            <a:r>
              <a:rPr kumimoji="0" lang="en-US" altLang="en-US" sz="1500" b="0" i="0" u="none" strike="noStrike" cap="none" normalizeH="0" baseline="0">
                <a:ln>
                  <a:noFill/>
                </a:ln>
                <a:solidFill>
                  <a:schemeClr val="tx1"/>
                </a:solidFill>
                <a:effectLst/>
                <a:latin typeface="Arial" panose="020B0604020202020204" pitchFamily="34" charset="0"/>
              </a:rPr>
              <a:t> đồ án được thực hiện qua 4 giai đoạn chính như sau: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Giai đoạn 1: Khảo sát và phân tích yêu cầu:</a:t>
            </a:r>
            <a:r>
              <a:rPr kumimoji="0" lang="en-US" altLang="en-US" sz="1500" b="0" i="0" u="none" strike="noStrike" cap="none" normalizeH="0" baseline="0">
                <a:ln>
                  <a:noFill/>
                </a:ln>
                <a:solidFill>
                  <a:schemeClr val="tx1"/>
                </a:solidFill>
                <a:effectLst/>
                <a:latin typeface="Arial" panose="020B0604020202020204" pitchFamily="34" charset="0"/>
              </a:rPr>
              <a:t> Tiến hành khảo sát thực địa tại các tỉnh (Vĩnh Long, Trà Vinh, Bến Tre), phỏng vấn người dùng để nắm bắt nhu cầu và phân tích các website du lịch hiện có nhằm xác định các yêu cầu chức năng cho hệ thống.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Giai đoạn 2: Nghiên cứu công nghệ:</a:t>
            </a:r>
            <a:r>
              <a:rPr kumimoji="0" lang="en-US" altLang="en-US" sz="1500" b="0" i="0" u="none" strike="noStrike" cap="none" normalizeH="0" baseline="0">
                <a:ln>
                  <a:noFill/>
                </a:ln>
                <a:solidFill>
                  <a:schemeClr val="tx1"/>
                </a:solidFill>
                <a:effectLst/>
                <a:latin typeface="Arial" panose="020B0604020202020204" pitchFamily="34" charset="0"/>
              </a:rPr>
              <a:t> Lựa chọn và nghiên cứu bộ công nghệ phù hợp bao gồm HTML5, CSS3, JavaScript ES6+ cho Front-end; PHP 7.4+ và MySQL 8.0 cho Back-end, cùng các công cụ hỗ trợ như Visual Studio Code và XAMPP.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Giai đoạn 3: Thiết kế hệ thống:</a:t>
            </a:r>
            <a:r>
              <a:rPr kumimoji="0" lang="en-US" altLang="en-US" sz="1500" b="0" i="0" u="none" strike="noStrike" cap="none" normalizeH="0" baseline="0">
                <a:ln>
                  <a:noFill/>
                </a:ln>
                <a:solidFill>
                  <a:schemeClr val="tx1"/>
                </a:solidFill>
                <a:effectLst/>
                <a:latin typeface="Arial" panose="020B0604020202020204" pitchFamily="34" charset="0"/>
              </a:rPr>
              <a:t> Xây dựng cơ sở dữ liệu qua mô hình ERD, thiết kế giao diện ,kiến trúc hệ thống theo mô hình MVC để đảm bảo khả năng mở rộng.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Giai đoạn 4: Phát triển và kiểm thử:</a:t>
            </a:r>
            <a:r>
              <a:rPr kumimoji="0" lang="en-US" altLang="en-US" sz="1500" b="0" i="0" u="none" strike="noStrike" cap="none" normalizeH="0" baseline="0">
                <a:ln>
                  <a:noFill/>
                </a:ln>
                <a:solidFill>
                  <a:schemeClr val="tx1"/>
                </a:solidFill>
                <a:effectLst/>
                <a:latin typeface="Arial" panose="020B0604020202020204" pitchFamily="34" charset="0"/>
              </a:rPr>
              <a:t> Lập trình theo từng module từ Front-end đến Back-end, sau đó tích hợp toàn hệ thống và thực hiện kiểm thử để tối ưu hiệu suất và đảm bảo tính ổn định.</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500" b="0" i="0" u="none" strike="noStrike" cap="none" normalizeH="0" baseline="0">
                <a:ln>
                  <a:noFill/>
                </a:ln>
                <a:solidFill>
                  <a:schemeClr val="tx1"/>
                </a:solidFill>
                <a:effectLst/>
                <a:latin typeface="Arial" panose="020B0604020202020204" pitchFamily="34" charset="0"/>
              </a:rPr>
            </a:br>
            <a:endParaRPr kumimoji="0" lang="en-US" altLang="en-US" sz="15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1965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2FE7-CD0D-2409-7E32-3CE9045F959C}"/>
              </a:ext>
            </a:extLst>
          </p:cNvPr>
          <p:cNvSpPr>
            <a:spLocks noGrp="1"/>
          </p:cNvSpPr>
          <p:nvPr>
            <p:ph type="title"/>
          </p:nvPr>
        </p:nvSpPr>
        <p:spPr>
          <a:xfrm>
            <a:off x="677334" y="609600"/>
            <a:ext cx="8596668" cy="923925"/>
          </a:xfrm>
        </p:spPr>
        <p:txBody>
          <a:bodyPr>
            <a:normAutofit fontScale="90000"/>
          </a:bodyPr>
          <a:lstStyle/>
          <a:p>
            <a:pPr algn="ctr"/>
            <a: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t>Thiết kế kiến trúc hệ thống</a:t>
            </a:r>
            <a:br>
              <a:rPr lang="en-GB" sz="4000" b="1">
                <a:solidFill>
                  <a:schemeClr val="tx1"/>
                </a:solidFill>
                <a:latin typeface="Arial" panose="020B0604020202020204" pitchFamily="34" charset="0"/>
                <a:ea typeface="Calibri" panose="020F0502020204030204" pitchFamily="34" charset="0"/>
                <a:cs typeface="Arial" panose="020B0604020202020204" pitchFamily="34" charset="0"/>
              </a:rPr>
            </a:br>
            <a:endParaRPr lang="en-GB" sz="4000" b="1">
              <a:solidFill>
                <a:schemeClr val="tx1"/>
              </a:solidFill>
            </a:endParaRPr>
          </a:p>
        </p:txBody>
      </p:sp>
      <p:pic>
        <p:nvPicPr>
          <p:cNvPr id="5" name="Content Placeholder 4" descr="A diagram of a software development process&#10;&#10;AI-generated content may be incorrect.">
            <a:extLst>
              <a:ext uri="{FF2B5EF4-FFF2-40B4-BE49-F238E27FC236}">
                <a16:creationId xmlns:a16="http://schemas.microsoft.com/office/drawing/2014/main" id="{9E411BD6-7AE2-9D53-92B5-582D02CEA72D}"/>
              </a:ext>
            </a:extLst>
          </p:cNvPr>
          <p:cNvPicPr>
            <a:picLocks noGrp="1" noChangeAspect="1"/>
          </p:cNvPicPr>
          <p:nvPr>
            <p:ph idx="1"/>
          </p:nvPr>
        </p:nvPicPr>
        <p:blipFill>
          <a:blip r:embed="rId2"/>
          <a:stretch>
            <a:fillRect/>
          </a:stretch>
        </p:blipFill>
        <p:spPr>
          <a:xfrm>
            <a:off x="229659" y="1640264"/>
            <a:ext cx="4231237" cy="3881437"/>
          </a:xfrm>
          <a:prstGeom prst="rect">
            <a:avLst/>
          </a:prstGeom>
        </p:spPr>
      </p:pic>
      <p:sp>
        <p:nvSpPr>
          <p:cNvPr id="7" name="TextBox 6">
            <a:extLst>
              <a:ext uri="{FF2B5EF4-FFF2-40B4-BE49-F238E27FC236}">
                <a16:creationId xmlns:a16="http://schemas.microsoft.com/office/drawing/2014/main" id="{3B3F6A28-ED64-B6F6-7787-633CDF22EB09}"/>
              </a:ext>
            </a:extLst>
          </p:cNvPr>
          <p:cNvSpPr txBox="1"/>
          <p:nvPr/>
        </p:nvSpPr>
        <p:spPr>
          <a:xfrm>
            <a:off x="4497368" y="1533525"/>
            <a:ext cx="6467476" cy="4524315"/>
          </a:xfrm>
          <a:prstGeom prst="rect">
            <a:avLst/>
          </a:prstGeom>
          <a:noFill/>
        </p:spPr>
        <p:txBody>
          <a:bodyPr wrap="square">
            <a:spAutoFit/>
          </a:bodyPr>
          <a:lstStyle/>
          <a:p>
            <a:pPr algn="just"/>
            <a:r>
              <a:rPr lang="vi-VN"/>
              <a:t>Hệ thống hoạt động theo mô hình </a:t>
            </a:r>
            <a:r>
              <a:rPr lang="vi-VN" b="1"/>
              <a:t>Request - Response</a:t>
            </a:r>
            <a:r>
              <a:rPr lang="vi-VN"/>
              <a:t> theo trình tự sau:</a:t>
            </a:r>
          </a:p>
          <a:p>
            <a:pPr algn="just"/>
            <a:r>
              <a:rPr lang="en-GB" b="1"/>
              <a:t>	</a:t>
            </a:r>
            <a:r>
              <a:rPr lang="vi-VN" b="1"/>
              <a:t>Gửi yêu cầu:</a:t>
            </a:r>
            <a:r>
              <a:rPr lang="vi-VN"/>
              <a:t> Người dùng thực hiện một hành động ở Presentation Layer</a:t>
            </a:r>
            <a:r>
              <a:rPr lang="en-GB"/>
              <a:t>. </a:t>
            </a:r>
            <a:r>
              <a:rPr lang="vi-VN"/>
              <a:t>Trình duyệt gửi một yêu cầu đến Server.</a:t>
            </a:r>
          </a:p>
          <a:p>
            <a:pPr algn="just"/>
            <a:r>
              <a:rPr lang="en-GB" b="1"/>
              <a:t>        </a:t>
            </a:r>
            <a:r>
              <a:rPr lang="vi-VN" b="1"/>
              <a:t>Xử lý Logic:</a:t>
            </a:r>
            <a:r>
              <a:rPr lang="vi-VN"/>
              <a:t> Application Layer nhận yêu cầu. PHP Controller sẽ kiểm tra logic, xác thực thông tin và quản lý Session. Nếu cần lấy thông tin tài khoản, nó sẽ yêu cầu xuống lớp dưới.</a:t>
            </a:r>
          </a:p>
          <a:p>
            <a:pPr algn="just"/>
            <a:r>
              <a:rPr lang="en-GB" b="1"/>
              <a:t>       </a:t>
            </a:r>
            <a:r>
              <a:rPr lang="vi-VN" b="1"/>
              <a:t>Truy xuất dữ liệu:</a:t>
            </a:r>
            <a:r>
              <a:rPr lang="vi-VN"/>
              <a:t> Data Layer thực hiện các câu lệnh Query vào MySQL để lấy dữ liệu hoặc lưu trữ dữ liệu mới.</a:t>
            </a:r>
          </a:p>
          <a:p>
            <a:pPr algn="just"/>
            <a:r>
              <a:rPr lang="en-GB" b="1"/>
              <a:t>       </a:t>
            </a:r>
            <a:r>
              <a:rPr lang="vi-VN" b="1"/>
              <a:t>Phản hồi kết quả:</a:t>
            </a:r>
            <a:r>
              <a:rPr lang="vi-VN"/>
              <a:t> Sau khi có dữ liệu từ Database, Application Layer xử lý xong sẽ đóng gói kết quả và gửi ngược lại cho Presentation Layer.</a:t>
            </a:r>
          </a:p>
          <a:p>
            <a:pPr algn="just"/>
            <a:r>
              <a:rPr lang="en-GB" b="1"/>
              <a:t>       </a:t>
            </a:r>
            <a:r>
              <a:rPr lang="vi-VN" b="1"/>
              <a:t>Hiển thị:</a:t>
            </a:r>
            <a:r>
              <a:rPr lang="vi-VN"/>
              <a:t> Trình duyệt nhận dữ liệu (thường là HTML hoặc JSON) và cập nhật giao diện để người dùng nhìn thấy kết quả.</a:t>
            </a:r>
            <a:r>
              <a:rPr lang="en-GB"/>
              <a:t> </a:t>
            </a:r>
            <a:endParaRPr lang="vi-VN"/>
          </a:p>
        </p:txBody>
      </p:sp>
    </p:spTree>
    <p:extLst>
      <p:ext uri="{BB962C8B-B14F-4D97-AF65-F5344CB8AC3E}">
        <p14:creationId xmlns:p14="http://schemas.microsoft.com/office/powerpoint/2010/main" val="2211341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9C79-B099-EA63-FBF0-C84A5D3F7C9C}"/>
              </a:ext>
            </a:extLst>
          </p:cNvPr>
          <p:cNvSpPr>
            <a:spLocks noGrp="1"/>
          </p:cNvSpPr>
          <p:nvPr>
            <p:ph type="title"/>
          </p:nvPr>
        </p:nvSpPr>
        <p:spPr>
          <a:xfrm>
            <a:off x="724959" y="0"/>
            <a:ext cx="8596668" cy="1320800"/>
          </a:xfrm>
        </p:spPr>
        <p:txBody>
          <a:bodyPr>
            <a:normAutofit/>
          </a:bodyPr>
          <a:lstStyle/>
          <a:p>
            <a:pPr algn="ctr"/>
            <a:r>
              <a:rPr lang="en-GB" sz="4000" b="1">
                <a:solidFill>
                  <a:schemeClr val="tx1"/>
                </a:solidFill>
                <a:latin typeface="Arial" panose="020B0604020202020204" pitchFamily="34" charset="0"/>
                <a:cs typeface="Arial" panose="020B0604020202020204" pitchFamily="34" charset="0"/>
              </a:rPr>
              <a:t>Mô hình MVC</a:t>
            </a:r>
          </a:p>
        </p:txBody>
      </p:sp>
      <p:pic>
        <p:nvPicPr>
          <p:cNvPr id="5" name="Content Placeholder 4" descr="A diagram of a computer program&#10;&#10;AI-generated content may be incorrect.">
            <a:extLst>
              <a:ext uri="{FF2B5EF4-FFF2-40B4-BE49-F238E27FC236}">
                <a16:creationId xmlns:a16="http://schemas.microsoft.com/office/drawing/2014/main" id="{F3E86A3C-E545-44CB-5F78-50E7A898BA4C}"/>
              </a:ext>
            </a:extLst>
          </p:cNvPr>
          <p:cNvPicPr>
            <a:picLocks noGrp="1" noChangeAspect="1"/>
          </p:cNvPicPr>
          <p:nvPr>
            <p:ph idx="1"/>
          </p:nvPr>
        </p:nvPicPr>
        <p:blipFill>
          <a:blip r:embed="rId2"/>
          <a:stretch>
            <a:fillRect/>
          </a:stretch>
        </p:blipFill>
        <p:spPr>
          <a:xfrm>
            <a:off x="1867534" y="782512"/>
            <a:ext cx="6768717" cy="3191320"/>
          </a:xfrm>
          <a:prstGeom prst="rect">
            <a:avLst/>
          </a:prstGeom>
        </p:spPr>
      </p:pic>
      <p:sp>
        <p:nvSpPr>
          <p:cNvPr id="7" name="TextBox 6">
            <a:extLst>
              <a:ext uri="{FF2B5EF4-FFF2-40B4-BE49-F238E27FC236}">
                <a16:creationId xmlns:a16="http://schemas.microsoft.com/office/drawing/2014/main" id="{C27FDEC2-B8D7-1D97-6E97-00EFFA5C9FCC}"/>
              </a:ext>
            </a:extLst>
          </p:cNvPr>
          <p:cNvSpPr txBox="1"/>
          <p:nvPr/>
        </p:nvSpPr>
        <p:spPr>
          <a:xfrm>
            <a:off x="1176338" y="3835593"/>
            <a:ext cx="10863262" cy="3397918"/>
          </a:xfrm>
          <a:prstGeom prst="rect">
            <a:avLst/>
          </a:prstGeom>
          <a:noFill/>
        </p:spPr>
        <p:txBody>
          <a:bodyPr wrap="square">
            <a:spAutoFit/>
          </a:bodyPr>
          <a:lstStyle/>
          <a:p>
            <a:pPr indent="215900" algn="just">
              <a:lnSpc>
                <a:spcPct val="150000"/>
              </a:lnSpc>
              <a:spcBef>
                <a:spcPts val="600"/>
              </a:spcBef>
              <a:spcAft>
                <a:spcPts val="600"/>
              </a:spcAft>
              <a:buNone/>
            </a:pPr>
            <a:r>
              <a:rPr lang="en-GB" sz="1500">
                <a:effectLst/>
                <a:latin typeface="Arial" panose="020B0604020202020204" pitchFamily="34" charset="0"/>
                <a:ea typeface="Times New Roman" panose="02020603050405020304" pitchFamily="18" charset="0"/>
                <a:cs typeface="Arial" panose="020B0604020202020204" pitchFamily="34" charset="0"/>
              </a:rPr>
              <a:t> </a:t>
            </a:r>
            <a:r>
              <a:rPr lang="en-GB" sz="1500" b="1">
                <a:effectLst/>
                <a:latin typeface="Arial" panose="020B0604020202020204" pitchFamily="34" charset="0"/>
                <a:ea typeface="Times New Roman" panose="02020603050405020304" pitchFamily="18" charset="0"/>
                <a:cs typeface="Arial" panose="020B0604020202020204" pitchFamily="34" charset="0"/>
              </a:rPr>
              <a:t>Luồng tìm kiếm di tích:</a:t>
            </a:r>
            <a:endParaRPr lang="en-GB" sz="1500">
              <a:effectLst/>
              <a:latin typeface="Arial" panose="020B0604020202020204" pitchFamily="34" charset="0"/>
              <a:ea typeface="Times New Roman" panose="02020603050405020304" pitchFamily="18" charset="0"/>
              <a:cs typeface="Arial" panose="020B0604020202020204" pitchFamily="34" charset="0"/>
            </a:endParaRPr>
          </a:p>
          <a:p>
            <a:pPr indent="215900" algn="just">
              <a:lnSpc>
                <a:spcPct val="150000"/>
              </a:lnSpc>
              <a:spcBef>
                <a:spcPts val="600"/>
              </a:spcBef>
              <a:spcAft>
                <a:spcPts val="600"/>
              </a:spcAft>
              <a:buNone/>
            </a:pPr>
            <a:r>
              <a:rPr lang="en-GB" sz="1500">
                <a:effectLst/>
                <a:latin typeface="Arial" panose="020B0604020202020204" pitchFamily="34" charset="0"/>
                <a:ea typeface="Times New Roman" panose="02020603050405020304" pitchFamily="18" charset="0"/>
                <a:cs typeface="Arial" panose="020B0604020202020204" pitchFamily="34" charset="0"/>
              </a:rPr>
              <a:t>User Input → TraCuu.html → JavaScript → search.php → MySQL → JSON Response → Display Results</a:t>
            </a:r>
          </a:p>
          <a:p>
            <a:pPr indent="215900" algn="just">
              <a:lnSpc>
                <a:spcPct val="150000"/>
              </a:lnSpc>
              <a:spcBef>
                <a:spcPts val="600"/>
              </a:spcBef>
              <a:spcAft>
                <a:spcPts val="600"/>
              </a:spcAft>
              <a:buNone/>
            </a:pPr>
            <a:r>
              <a:rPr lang="en-GB" sz="1500" b="1">
                <a:effectLst/>
                <a:latin typeface="Arial" panose="020B0604020202020204" pitchFamily="34" charset="0"/>
                <a:ea typeface="Times New Roman" panose="02020603050405020304" pitchFamily="18" charset="0"/>
                <a:cs typeface="Arial" panose="020B0604020202020204" pitchFamily="34" charset="0"/>
              </a:rPr>
              <a:t>Luồng đăng nhập:</a:t>
            </a:r>
            <a:endParaRPr lang="en-GB" sz="1500">
              <a:effectLst/>
              <a:latin typeface="Arial" panose="020B0604020202020204" pitchFamily="34" charset="0"/>
              <a:ea typeface="Times New Roman" panose="02020603050405020304" pitchFamily="18" charset="0"/>
              <a:cs typeface="Arial" panose="020B0604020202020204" pitchFamily="34" charset="0"/>
            </a:endParaRPr>
          </a:p>
          <a:p>
            <a:pPr indent="215900" algn="just">
              <a:lnSpc>
                <a:spcPct val="150000"/>
              </a:lnSpc>
              <a:spcBef>
                <a:spcPts val="600"/>
              </a:spcBef>
              <a:spcAft>
                <a:spcPts val="600"/>
              </a:spcAft>
              <a:buNone/>
            </a:pPr>
            <a:r>
              <a:rPr lang="en-GB" sz="1500">
                <a:effectLst/>
                <a:latin typeface="Arial" panose="020B0604020202020204" pitchFamily="34" charset="0"/>
                <a:ea typeface="Times New Roman" panose="02020603050405020304" pitchFamily="18" charset="0"/>
                <a:cs typeface="Arial" panose="020B0604020202020204" pitchFamily="34" charset="0"/>
              </a:rPr>
              <a:t>Login Form → DangNhap.html → login.php → Validate → Session → Redirect</a:t>
            </a:r>
          </a:p>
          <a:p>
            <a:pPr indent="215900" algn="just">
              <a:lnSpc>
                <a:spcPct val="150000"/>
              </a:lnSpc>
              <a:spcBef>
                <a:spcPts val="600"/>
              </a:spcBef>
              <a:spcAft>
                <a:spcPts val="600"/>
              </a:spcAft>
              <a:buNone/>
            </a:pPr>
            <a:r>
              <a:rPr lang="en-GB" sz="1500" b="1">
                <a:effectLst/>
                <a:latin typeface="Arial" panose="020B0604020202020204" pitchFamily="34" charset="0"/>
                <a:ea typeface="Times New Roman" panose="02020603050405020304" pitchFamily="18" charset="0"/>
                <a:cs typeface="Arial" panose="020B0604020202020204" pitchFamily="34" charset="0"/>
              </a:rPr>
              <a:t>Luồng xem chi tiết:</a:t>
            </a:r>
            <a:endParaRPr lang="en-GB" sz="1500">
              <a:effectLst/>
              <a:latin typeface="Arial" panose="020B0604020202020204" pitchFamily="34" charset="0"/>
              <a:ea typeface="Times New Roman" panose="02020603050405020304" pitchFamily="18" charset="0"/>
              <a:cs typeface="Arial" panose="020B0604020202020204" pitchFamily="34" charset="0"/>
            </a:endParaRPr>
          </a:p>
          <a:p>
            <a:pPr indent="215900" algn="just">
              <a:lnSpc>
                <a:spcPct val="150000"/>
              </a:lnSpc>
              <a:spcBef>
                <a:spcPts val="600"/>
              </a:spcBef>
              <a:spcAft>
                <a:spcPts val="600"/>
              </a:spcAft>
              <a:buNone/>
            </a:pPr>
            <a:r>
              <a:rPr lang="en-GB" sz="1500">
                <a:effectLst/>
                <a:latin typeface="Arial" panose="020B0604020202020204" pitchFamily="34" charset="0"/>
                <a:ea typeface="Times New Roman" panose="02020603050405020304" pitchFamily="18" charset="0"/>
                <a:cs typeface="Arial" panose="020B0604020202020204" pitchFamily="34" charset="0"/>
              </a:rPr>
              <a:t>Click Detail → chitiet.php?id=X → Query Database → Render HTML → Display</a:t>
            </a:r>
          </a:p>
          <a:p>
            <a:pPr indent="215900" algn="just">
              <a:lnSpc>
                <a:spcPct val="150000"/>
              </a:lnSpc>
              <a:spcBef>
                <a:spcPts val="600"/>
              </a:spcBef>
              <a:spcAft>
                <a:spcPts val="600"/>
              </a:spcAft>
              <a:buNone/>
            </a:pPr>
            <a:r>
              <a:rPr lang="en-GB" sz="1500" b="1">
                <a:effectLst/>
                <a:latin typeface="Arial" panose="020B0604020202020204" pitchFamily="34" charset="0"/>
                <a:ea typeface="Times New Roman" panose="02020603050405020304" pitchFamily="18" charset="0"/>
                <a:cs typeface="Arial" panose="020B0604020202020204" pitchFamily="34" charset="0"/>
              </a:rPr>
              <a:t> </a:t>
            </a:r>
            <a:endParaRPr lang="en-GB" sz="150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2657989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24014-70C1-C0B6-E81C-C069F19D68AE}"/>
              </a:ext>
            </a:extLst>
          </p:cNvPr>
          <p:cNvSpPr>
            <a:spLocks noGrp="1"/>
          </p:cNvSpPr>
          <p:nvPr>
            <p:ph type="title"/>
          </p:nvPr>
        </p:nvSpPr>
        <p:spPr>
          <a:xfrm>
            <a:off x="448734" y="0"/>
            <a:ext cx="8596668" cy="816638"/>
          </a:xfrm>
        </p:spPr>
        <p:txBody>
          <a:bodyPr>
            <a:normAutofit/>
          </a:bodyPr>
          <a:lstStyle/>
          <a:p>
            <a:pPr algn="ctr"/>
            <a:r>
              <a:rPr lang="en-GB" sz="4000" b="1">
                <a:solidFill>
                  <a:schemeClr val="tx1"/>
                </a:solidFill>
                <a:latin typeface="Arial" panose="020B0604020202020204" pitchFamily="34" charset="0"/>
                <a:cs typeface="Arial" panose="020B0604020202020204" pitchFamily="34" charset="0"/>
              </a:rPr>
              <a:t>Mô Hình ERD</a:t>
            </a:r>
          </a:p>
        </p:txBody>
      </p:sp>
      <p:pic>
        <p:nvPicPr>
          <p:cNvPr id="5" name="Content Placeholder 4" descr="A screenshot of a computer code&#10;&#10;AI-generated content may be incorrect.">
            <a:extLst>
              <a:ext uri="{FF2B5EF4-FFF2-40B4-BE49-F238E27FC236}">
                <a16:creationId xmlns:a16="http://schemas.microsoft.com/office/drawing/2014/main" id="{9FB9F579-B285-1D86-8ACF-78F62A1A9DE8}"/>
              </a:ext>
            </a:extLst>
          </p:cNvPr>
          <p:cNvPicPr>
            <a:picLocks noGrp="1" noChangeAspect="1"/>
          </p:cNvPicPr>
          <p:nvPr>
            <p:ph idx="1"/>
          </p:nvPr>
        </p:nvPicPr>
        <p:blipFill>
          <a:blip r:embed="rId2"/>
          <a:stretch>
            <a:fillRect/>
          </a:stretch>
        </p:blipFill>
        <p:spPr>
          <a:xfrm>
            <a:off x="448734" y="721388"/>
            <a:ext cx="4342341" cy="522605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04BA838-0718-D9B6-E1FC-3FCEB1041EB2}"/>
              </a:ext>
            </a:extLst>
          </p:cNvPr>
          <p:cNvPicPr>
            <a:picLocks noChangeAspect="1"/>
          </p:cNvPicPr>
          <p:nvPr/>
        </p:nvPicPr>
        <p:blipFill>
          <a:blip r:embed="rId3"/>
          <a:stretch>
            <a:fillRect/>
          </a:stretch>
        </p:blipFill>
        <p:spPr>
          <a:xfrm>
            <a:off x="5219397" y="938017"/>
            <a:ext cx="4363059" cy="2791215"/>
          </a:xfrm>
          <a:prstGeom prst="rect">
            <a:avLst/>
          </a:prstGeom>
        </p:spPr>
      </p:pic>
      <p:sp>
        <p:nvSpPr>
          <p:cNvPr id="9" name="TextBox 8">
            <a:extLst>
              <a:ext uri="{FF2B5EF4-FFF2-40B4-BE49-F238E27FC236}">
                <a16:creationId xmlns:a16="http://schemas.microsoft.com/office/drawing/2014/main" id="{BFD3C93C-356A-E67D-C1F0-5F48A2C560BF}"/>
              </a:ext>
            </a:extLst>
          </p:cNvPr>
          <p:cNvSpPr txBox="1"/>
          <p:nvPr/>
        </p:nvSpPr>
        <p:spPr>
          <a:xfrm>
            <a:off x="5416226" y="776434"/>
            <a:ext cx="2562225" cy="323165"/>
          </a:xfrm>
          <a:prstGeom prst="rect">
            <a:avLst/>
          </a:prstGeom>
          <a:noFill/>
        </p:spPr>
        <p:txBody>
          <a:bodyPr wrap="square" rtlCol="0">
            <a:spAutoFit/>
          </a:bodyPr>
          <a:lstStyle/>
          <a:p>
            <a:r>
              <a:rPr lang="en-GB" sz="1500" b="1">
                <a:latin typeface="Arial" panose="020B0604020202020204" pitchFamily="34" charset="0"/>
                <a:cs typeface="Arial" panose="020B0604020202020204" pitchFamily="34" charset="0"/>
              </a:rPr>
              <a:t>Mô hình mối liên hệ</a:t>
            </a:r>
          </a:p>
        </p:txBody>
      </p:sp>
    </p:spTree>
    <p:extLst>
      <p:ext uri="{BB962C8B-B14F-4D97-AF65-F5344CB8AC3E}">
        <p14:creationId xmlns:p14="http://schemas.microsoft.com/office/powerpoint/2010/main" val="2028078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BD704-23E5-DF55-9A16-7D84B41A3773}"/>
              </a:ext>
            </a:extLst>
          </p:cNvPr>
          <p:cNvSpPr>
            <a:spLocks noGrp="1"/>
          </p:cNvSpPr>
          <p:nvPr>
            <p:ph type="title"/>
          </p:nvPr>
        </p:nvSpPr>
        <p:spPr>
          <a:xfrm>
            <a:off x="915459" y="11834"/>
            <a:ext cx="8596668" cy="1320800"/>
          </a:xfrm>
        </p:spPr>
        <p:txBody>
          <a:bodyPr>
            <a:normAutofit/>
          </a:bodyPr>
          <a:lstStyle/>
          <a:p>
            <a:pPr algn="ctr"/>
            <a:r>
              <a:rPr lang="en-GB" sz="4000" b="1">
                <a:solidFill>
                  <a:schemeClr val="tx1"/>
                </a:solidFill>
                <a:latin typeface="Arial" panose="020B0604020202020204" pitchFamily="34" charset="0"/>
                <a:cs typeface="Arial" panose="020B0604020202020204" pitchFamily="34" charset="0"/>
              </a:rPr>
              <a:t>Giao diện trang chủ</a:t>
            </a:r>
          </a:p>
        </p:txBody>
      </p:sp>
      <p:pic>
        <p:nvPicPr>
          <p:cNvPr id="5" name="Content Placeholder 4" descr="A screenshot of a website&#10;&#10;AI-generated content may be incorrect.">
            <a:extLst>
              <a:ext uri="{FF2B5EF4-FFF2-40B4-BE49-F238E27FC236}">
                <a16:creationId xmlns:a16="http://schemas.microsoft.com/office/drawing/2014/main" id="{7E533756-F36B-0651-1BE2-8348BF7D84DB}"/>
              </a:ext>
            </a:extLst>
          </p:cNvPr>
          <p:cNvPicPr>
            <a:picLocks noGrp="1" noChangeAspect="1"/>
          </p:cNvPicPr>
          <p:nvPr>
            <p:ph idx="1"/>
          </p:nvPr>
        </p:nvPicPr>
        <p:blipFill>
          <a:blip r:embed="rId2"/>
          <a:stretch>
            <a:fillRect/>
          </a:stretch>
        </p:blipFill>
        <p:spPr>
          <a:xfrm>
            <a:off x="1841687" y="1428571"/>
            <a:ext cx="5997387" cy="2841364"/>
          </a:xfrm>
          <a:prstGeom prst="rect">
            <a:avLst/>
          </a:prstGeom>
        </p:spPr>
      </p:pic>
      <p:sp>
        <p:nvSpPr>
          <p:cNvPr id="6" name="Rectangle 1">
            <a:extLst>
              <a:ext uri="{FF2B5EF4-FFF2-40B4-BE49-F238E27FC236}">
                <a16:creationId xmlns:a16="http://schemas.microsoft.com/office/drawing/2014/main" id="{E95AB527-6FDE-6AD0-AD2E-7CB99E472A77}"/>
              </a:ext>
            </a:extLst>
          </p:cNvPr>
          <p:cNvSpPr>
            <a:spLocks noChangeArrowheads="1"/>
          </p:cNvSpPr>
          <p:nvPr/>
        </p:nvSpPr>
        <p:spPr bwMode="auto">
          <a:xfrm rot="10800000" flipV="1">
            <a:off x="1384135" y="4337297"/>
            <a:ext cx="7221166"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Header :</a:t>
            </a:r>
            <a:r>
              <a:rPr kumimoji="0" lang="en-US" altLang="en-US" sz="1500" b="0" i="0" u="none" strike="noStrike" cap="none" normalizeH="0" baseline="0">
                <a:ln>
                  <a:noFill/>
                </a:ln>
                <a:solidFill>
                  <a:schemeClr val="tx1"/>
                </a:solidFill>
                <a:effectLst/>
                <a:latin typeface="Arial" panose="020B0604020202020204" pitchFamily="34" charset="0"/>
              </a:rPr>
              <a:t>Nằm ở đầu trang, bao gồm tên thương hiệu "</a:t>
            </a:r>
            <a:r>
              <a:rPr kumimoji="0" lang="en-US" altLang="en-US" sz="1500" b="1" i="0" u="none" strike="noStrike" cap="none" normalizeH="0" baseline="0">
                <a:ln>
                  <a:noFill/>
                </a:ln>
                <a:solidFill>
                  <a:schemeClr val="tx1"/>
                </a:solidFill>
                <a:effectLst/>
                <a:latin typeface="Arial" panose="020B0604020202020204" pitchFamily="34" charset="0"/>
              </a:rPr>
              <a:t>Vĩnh Long Di Tích</a:t>
            </a:r>
            <a:r>
              <a:rPr kumimoji="0" lang="en-US" altLang="en-US" sz="1500" b="0" i="0" u="none" strike="noStrike" cap="none" normalizeH="0" baseline="0">
                <a:ln>
                  <a:noFill/>
                </a:ln>
                <a:solidFill>
                  <a:schemeClr val="tx1"/>
                </a:solidFill>
                <a:effectLst/>
                <a:latin typeface="Arial" panose="020B0604020202020204" pitchFamily="34" charset="0"/>
              </a:rPr>
              <a:t>" bên trái và các menu chức năng như Trang Chủ, Tra Cứu, Đăng Nhập, Đăng Ký bên phải để người dùng dễ dàng thao tác.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Banner chính:</a:t>
            </a:r>
            <a:r>
              <a:rPr kumimoji="0" lang="en-US" altLang="en-US" sz="1500" b="0" i="0" u="none" strike="noStrike" cap="none" normalizeH="0" baseline="0">
                <a:ln>
                  <a:noFill/>
                </a:ln>
                <a:solidFill>
                  <a:schemeClr val="tx1"/>
                </a:solidFill>
                <a:effectLst/>
                <a:latin typeface="Arial" panose="020B0604020202020204" pitchFamily="34" charset="0"/>
              </a:rPr>
              <a:t> Sử dụng các hình ảnh khổ rộng với hiệu ứng chuyển động giúp tạo ấn tượng thị giác mạnh mẽ ngay khi vừa truy cập.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Phần nội dung chính :</a:t>
            </a:r>
            <a:r>
              <a:rPr kumimoji="0" lang="en-US" altLang="en-US" sz="1500" b="0" i="0" u="none" strike="noStrike" cap="none" normalizeH="0" baseline="0">
                <a:ln>
                  <a:noFill/>
                </a:ln>
                <a:solidFill>
                  <a:schemeClr val="tx1"/>
                </a:solidFill>
                <a:effectLst/>
                <a:latin typeface="Arial" panose="020B0604020202020204" pitchFamily="34" charset="0"/>
              </a:rPr>
              <a:t>Hiển thị các di tích tiêu biểu. Mỗi thẻ bao gồm hình ảnh minh họa, tiêu đề, đoạn mô tả ngắn và nút "</a:t>
            </a:r>
            <a:r>
              <a:rPr kumimoji="0" lang="en-US" altLang="en-US" sz="1500" b="1" i="0" u="none" strike="noStrike" cap="none" normalizeH="0" baseline="0">
                <a:ln>
                  <a:noFill/>
                </a:ln>
                <a:solidFill>
                  <a:schemeClr val="tx1"/>
                </a:solidFill>
                <a:effectLst/>
                <a:latin typeface="Arial" panose="020B0604020202020204" pitchFamily="34" charset="0"/>
              </a:rPr>
              <a:t>Xem chi tiết</a:t>
            </a:r>
            <a:r>
              <a:rPr kumimoji="0" lang="en-US" altLang="en-US" sz="1500" b="0" i="0" u="none" strike="noStrike" cap="none" normalizeH="0" baseline="0">
                <a:ln>
                  <a:noFill/>
                </a:ln>
                <a:solidFill>
                  <a:schemeClr val="tx1"/>
                </a:solidFill>
                <a:effectLst/>
                <a:latin typeface="Arial" panose="020B0604020202020204" pitchFamily="34" charset="0"/>
              </a:rPr>
              <a:t>" dẫn đến thông tin đầy đủ của di tích.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    Footer </a:t>
            </a:r>
            <a:r>
              <a:rPr kumimoji="0" lang="en-US" altLang="en-US" sz="1500" b="0" i="0" u="none" strike="noStrike" cap="none" normalizeH="0" baseline="0">
                <a:ln>
                  <a:noFill/>
                </a:ln>
                <a:solidFill>
                  <a:schemeClr val="tx1"/>
                </a:solidFill>
                <a:effectLst/>
                <a:latin typeface="Arial" panose="020B0604020202020204" pitchFamily="34" charset="0"/>
              </a:rPr>
              <a:t>Cung cấp các thông tin về bản quyền, giới thiệu ngắn về dự án, các liên kết chính sách và thông tin liên hệ chi tiết (địa chỉ, số điện thoại, email).</a:t>
            </a:r>
          </a:p>
        </p:txBody>
      </p:sp>
      <p:sp>
        <p:nvSpPr>
          <p:cNvPr id="8" name="TextBox 7">
            <a:extLst>
              <a:ext uri="{FF2B5EF4-FFF2-40B4-BE49-F238E27FC236}">
                <a16:creationId xmlns:a16="http://schemas.microsoft.com/office/drawing/2014/main" id="{2274F61F-E4C8-0D9F-22BF-66481D673042}"/>
              </a:ext>
            </a:extLst>
          </p:cNvPr>
          <p:cNvSpPr txBox="1"/>
          <p:nvPr/>
        </p:nvSpPr>
        <p:spPr>
          <a:xfrm>
            <a:off x="747371" y="1038044"/>
            <a:ext cx="2828925" cy="323165"/>
          </a:xfrm>
          <a:prstGeom prst="rect">
            <a:avLst/>
          </a:prstGeom>
          <a:noFill/>
        </p:spPr>
        <p:txBody>
          <a:bodyPr wrap="square" rtlCol="0">
            <a:spAutoFit/>
          </a:bodyPr>
          <a:lstStyle/>
          <a:p>
            <a:r>
              <a:rPr lang="en-GB" sz="1500" b="1">
                <a:latin typeface="Arial" panose="020B0604020202020204" pitchFamily="34" charset="0"/>
                <a:cs typeface="Arial" panose="020B0604020202020204" pitchFamily="34" charset="0"/>
              </a:rPr>
              <a:t>1.Giao diện trang chủ</a:t>
            </a:r>
          </a:p>
        </p:txBody>
      </p:sp>
    </p:spTree>
    <p:extLst>
      <p:ext uri="{BB962C8B-B14F-4D97-AF65-F5344CB8AC3E}">
        <p14:creationId xmlns:p14="http://schemas.microsoft.com/office/powerpoint/2010/main" val="3568468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46E4-6ECB-45F4-481C-435B3A2300DA}"/>
              </a:ext>
            </a:extLst>
          </p:cNvPr>
          <p:cNvSpPr>
            <a:spLocks noGrp="1"/>
          </p:cNvSpPr>
          <p:nvPr>
            <p:ph type="title"/>
          </p:nvPr>
        </p:nvSpPr>
        <p:spPr/>
        <p:txBody>
          <a:bodyPr>
            <a:normAutofit/>
          </a:bodyPr>
          <a:lstStyle/>
          <a:p>
            <a:r>
              <a:rPr lang="en-GB" sz="4000" b="1">
                <a:solidFill>
                  <a:schemeClr val="tx1"/>
                </a:solidFill>
                <a:latin typeface="Arial" panose="020B0604020202020204" pitchFamily="34" charset="0"/>
                <a:cs typeface="Arial" panose="020B0604020202020204" pitchFamily="34" charset="0"/>
              </a:rPr>
              <a:t>Giao diện đăng nhập và đăng ký</a:t>
            </a:r>
          </a:p>
        </p:txBody>
      </p:sp>
      <p:sp>
        <p:nvSpPr>
          <p:cNvPr id="3" name="Content Placeholder 2">
            <a:extLst>
              <a:ext uri="{FF2B5EF4-FFF2-40B4-BE49-F238E27FC236}">
                <a16:creationId xmlns:a16="http://schemas.microsoft.com/office/drawing/2014/main" id="{A186CDFC-6455-9575-72A4-7B010719C11B}"/>
              </a:ext>
            </a:extLst>
          </p:cNvPr>
          <p:cNvSpPr>
            <a:spLocks noGrp="1"/>
          </p:cNvSpPr>
          <p:nvPr>
            <p:ph idx="1"/>
          </p:nvPr>
        </p:nvSpPr>
        <p:spPr>
          <a:xfrm>
            <a:off x="677334" y="1827214"/>
            <a:ext cx="8596668" cy="3880773"/>
          </a:xfrm>
        </p:spPr>
        <p:txBody>
          <a:bodyPr>
            <a:normAutofit/>
          </a:bodyPr>
          <a:lstStyle/>
          <a:p>
            <a:pPr marL="0" indent="0">
              <a:buNone/>
            </a:pPr>
            <a:r>
              <a:rPr lang="en-GB" sz="1500" b="1">
                <a:solidFill>
                  <a:schemeClr val="tx1"/>
                </a:solidFill>
                <a:latin typeface="Arial" panose="020B0604020202020204" pitchFamily="34" charset="0"/>
                <a:cs typeface="Arial" panose="020B0604020202020204" pitchFamily="34" charset="0"/>
              </a:rPr>
              <a:t>1.Giao diện đăng nhập</a:t>
            </a:r>
          </a:p>
        </p:txBody>
      </p:sp>
      <p:pic>
        <p:nvPicPr>
          <p:cNvPr id="5" name="Picture 4" descr="A screenshot of a phone&#10;&#10;AI-generated content may be incorrect.">
            <a:extLst>
              <a:ext uri="{FF2B5EF4-FFF2-40B4-BE49-F238E27FC236}">
                <a16:creationId xmlns:a16="http://schemas.microsoft.com/office/drawing/2014/main" id="{EC8B0E5F-1117-0306-1C31-EE3890700004}"/>
              </a:ext>
            </a:extLst>
          </p:cNvPr>
          <p:cNvPicPr>
            <a:picLocks noChangeAspect="1"/>
          </p:cNvPicPr>
          <p:nvPr/>
        </p:nvPicPr>
        <p:blipFill>
          <a:blip r:embed="rId2"/>
          <a:stretch>
            <a:fillRect/>
          </a:stretch>
        </p:blipFill>
        <p:spPr>
          <a:xfrm>
            <a:off x="677335" y="2176150"/>
            <a:ext cx="2662958" cy="3986526"/>
          </a:xfrm>
          <a:prstGeom prst="rect">
            <a:avLst/>
          </a:prstGeom>
        </p:spPr>
      </p:pic>
      <p:sp>
        <p:nvSpPr>
          <p:cNvPr id="6" name="Rectangle 1">
            <a:extLst>
              <a:ext uri="{FF2B5EF4-FFF2-40B4-BE49-F238E27FC236}">
                <a16:creationId xmlns:a16="http://schemas.microsoft.com/office/drawing/2014/main" id="{B8923AE9-A35B-5A6E-8933-A4EA1E701B14}"/>
              </a:ext>
            </a:extLst>
          </p:cNvPr>
          <p:cNvSpPr>
            <a:spLocks noChangeArrowheads="1"/>
          </p:cNvSpPr>
          <p:nvPr/>
        </p:nvSpPr>
        <p:spPr bwMode="auto">
          <a:xfrm rot="10800000" flipV="1">
            <a:off x="3509962" y="1950899"/>
            <a:ext cx="5172076"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Giao diện:</a:t>
            </a:r>
            <a:r>
              <a:rPr kumimoji="0" lang="en-US" altLang="en-US" sz="1500" b="0" i="0" u="none" strike="noStrike" cap="none" normalizeH="0" baseline="0">
                <a:ln>
                  <a:noFill/>
                </a:ln>
                <a:solidFill>
                  <a:schemeClr val="tx1"/>
                </a:solidFill>
                <a:effectLst/>
                <a:latin typeface="Arial" panose="020B0604020202020204" pitchFamily="34" charset="0"/>
              </a:rPr>
              <a:t> Form đăng nhập tập trung, sử dụng hiệu ứng đổ bóng (box-shadow) tạo chiều sâu và biểu tượng ngôi đền để nhận diện thương hiệu</a:t>
            </a:r>
            <a:r>
              <a:rPr lang="en-US" altLang="en-US" sz="1500">
                <a:latin typeface="Arial" panose="020B0604020202020204" pitchFamily="34" charset="0"/>
              </a:rPr>
              <a:t>.</a:t>
            </a:r>
            <a:r>
              <a:rPr kumimoji="0" lang="en-US" altLang="en-US" sz="15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Xử lý kỹ thuật:</a:t>
            </a: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chemeClr val="tx1"/>
                </a:solidFill>
                <a:effectLst/>
                <a:latin typeface="Arial" panose="020B0604020202020204" pitchFamily="34" charset="0"/>
              </a:rPr>
              <a:t>- Sử dụng </a:t>
            </a:r>
            <a:r>
              <a:rPr kumimoji="0" lang="en-US" altLang="en-US" sz="1500" i="0" u="none" strike="noStrike" cap="none" normalizeH="0" baseline="0">
                <a:ln>
                  <a:noFill/>
                </a:ln>
                <a:solidFill>
                  <a:schemeClr val="tx1"/>
                </a:solidFill>
                <a:effectLst/>
                <a:latin typeface="Arial" panose="020B0604020202020204" pitchFamily="34" charset="0"/>
              </a:rPr>
              <a:t>PHP</a:t>
            </a:r>
            <a:r>
              <a:rPr kumimoji="0" lang="en-US" altLang="en-US" sz="1500" b="0" i="0" u="none" strike="noStrike" cap="none" normalizeH="0" baseline="0">
                <a:ln>
                  <a:noFill/>
                </a:ln>
                <a:solidFill>
                  <a:schemeClr val="tx1"/>
                </a:solidFill>
                <a:effectLst/>
                <a:latin typeface="Arial" panose="020B0604020202020204" pitchFamily="34" charset="0"/>
              </a:rPr>
              <a:t> để xác thực thông tin và quản lý phiên làm việc nhằm duy trì trạng thái đăng nhập</a:t>
            </a:r>
            <a:r>
              <a:rPr lang="en-US" altLang="en-US" sz="1500">
                <a:latin typeface="Arial" panose="020B0604020202020204" pitchFamily="34" charset="0"/>
              </a:rPr>
              <a:t>.</a:t>
            </a:r>
            <a:endParaRPr kumimoji="0" lang="en-US" altLang="en-US" sz="15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chemeClr val="tx1"/>
                </a:solidFill>
                <a:effectLst/>
                <a:latin typeface="Arial" panose="020B0604020202020204" pitchFamily="34" charset="0"/>
              </a:rPr>
              <a:t>- Sau khi đăng nhập thành công, hệ thống hiển thị thông báo chào mừng và cho phép sử dụng đầy đủ tính năng tra cứu.</a:t>
            </a:r>
          </a:p>
        </p:txBody>
      </p:sp>
    </p:spTree>
    <p:extLst>
      <p:ext uri="{BB962C8B-B14F-4D97-AF65-F5344CB8AC3E}">
        <p14:creationId xmlns:p14="http://schemas.microsoft.com/office/powerpoint/2010/main" val="1600926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43A78-A622-7A36-A6B7-EF28B5DF8341}"/>
              </a:ext>
            </a:extLst>
          </p:cNvPr>
          <p:cNvSpPr>
            <a:spLocks noGrp="1"/>
          </p:cNvSpPr>
          <p:nvPr>
            <p:ph idx="1"/>
          </p:nvPr>
        </p:nvSpPr>
        <p:spPr>
          <a:xfrm>
            <a:off x="677334" y="190501"/>
            <a:ext cx="8596668" cy="5850862"/>
          </a:xfrm>
        </p:spPr>
        <p:txBody>
          <a:bodyPr>
            <a:normAutofit/>
          </a:bodyPr>
          <a:lstStyle/>
          <a:p>
            <a:pPr marL="0" indent="0">
              <a:buNone/>
            </a:pPr>
            <a:r>
              <a:rPr lang="en-GB" sz="1500" b="1">
                <a:solidFill>
                  <a:schemeClr val="tx1"/>
                </a:solidFill>
                <a:latin typeface="Arial" panose="020B0604020202020204" pitchFamily="34" charset="0"/>
                <a:cs typeface="Arial" panose="020B0604020202020204" pitchFamily="34" charset="0"/>
              </a:rPr>
              <a:t>2.Giao diện đăng ký</a:t>
            </a:r>
          </a:p>
        </p:txBody>
      </p:sp>
      <p:pic>
        <p:nvPicPr>
          <p:cNvPr id="5" name="Picture 4" descr="A screenshot of a phone&#10;&#10;AI-generated content may be incorrect.">
            <a:extLst>
              <a:ext uri="{FF2B5EF4-FFF2-40B4-BE49-F238E27FC236}">
                <a16:creationId xmlns:a16="http://schemas.microsoft.com/office/drawing/2014/main" id="{7F7440B2-0E2C-AD87-6BF9-F7BB3F7C2E31}"/>
              </a:ext>
            </a:extLst>
          </p:cNvPr>
          <p:cNvPicPr>
            <a:picLocks noChangeAspect="1"/>
          </p:cNvPicPr>
          <p:nvPr/>
        </p:nvPicPr>
        <p:blipFill>
          <a:blip r:embed="rId2"/>
          <a:stretch>
            <a:fillRect/>
          </a:stretch>
        </p:blipFill>
        <p:spPr>
          <a:xfrm>
            <a:off x="677334" y="589701"/>
            <a:ext cx="2723091" cy="4890241"/>
          </a:xfrm>
          <a:prstGeom prst="rect">
            <a:avLst/>
          </a:prstGeom>
        </p:spPr>
      </p:pic>
      <p:sp>
        <p:nvSpPr>
          <p:cNvPr id="6" name="Rectangle 1">
            <a:extLst>
              <a:ext uri="{FF2B5EF4-FFF2-40B4-BE49-F238E27FC236}">
                <a16:creationId xmlns:a16="http://schemas.microsoft.com/office/drawing/2014/main" id="{E8D988DF-45EF-B0B0-133C-40E7BB3E72F3}"/>
              </a:ext>
            </a:extLst>
          </p:cNvPr>
          <p:cNvSpPr>
            <a:spLocks noChangeArrowheads="1"/>
          </p:cNvSpPr>
          <p:nvPr/>
        </p:nvSpPr>
        <p:spPr bwMode="auto">
          <a:xfrm rot="10800000" flipV="1">
            <a:off x="3590925" y="1582810"/>
            <a:ext cx="792374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a:ln>
                  <a:noFill/>
                </a:ln>
                <a:solidFill>
                  <a:schemeClr val="tx1"/>
                </a:solidFill>
                <a:effectLst/>
                <a:latin typeface="Arial" panose="020B0604020202020204" pitchFamily="34" charset="0"/>
              </a:rPr>
              <a:t>Giao diện:</a:t>
            </a:r>
            <a:r>
              <a:rPr kumimoji="0" lang="en-US" altLang="en-US" b="0" i="0" u="none" strike="noStrike" cap="none" normalizeH="0" baseline="0">
                <a:ln>
                  <a:noFill/>
                </a:ln>
                <a:solidFill>
                  <a:schemeClr val="tx1"/>
                </a:solidFill>
                <a:effectLst/>
                <a:latin typeface="Arial" panose="020B0604020202020204" pitchFamily="34" charset="0"/>
              </a:rPr>
              <a:t> Thiết kế tối giản, đồng bộ tông màu xanh lá với các chú thích hướng dẫn nhập liệu (Validation Hints).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a:ln>
                  <a:noFill/>
                </a:ln>
                <a:solidFill>
                  <a:schemeClr val="tx1"/>
                </a:solidFill>
                <a:effectLst/>
                <a:latin typeface="Arial" panose="020B0604020202020204" pitchFamily="34" charset="0"/>
              </a:rPr>
              <a:t>Thông tin yêu cầu:</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 Tên đăng nhập (3-20 ký tự, không chứa ký tự đặc biệt ngoài dấu gạch dưới).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 Email hợp lệ và mật khẩu tối thiểu 6 ký tự.</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 Ô xác nhận mật khẩu để tránh sai sót khi thiết lập.</a:t>
            </a:r>
          </a:p>
        </p:txBody>
      </p:sp>
    </p:spTree>
    <p:extLst>
      <p:ext uri="{BB962C8B-B14F-4D97-AF65-F5344CB8AC3E}">
        <p14:creationId xmlns:p14="http://schemas.microsoft.com/office/powerpoint/2010/main" val="2644690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F171-23E9-6596-CCAC-A1A7945AFFE4}"/>
              </a:ext>
            </a:extLst>
          </p:cNvPr>
          <p:cNvSpPr>
            <a:spLocks noGrp="1"/>
          </p:cNvSpPr>
          <p:nvPr>
            <p:ph type="title"/>
          </p:nvPr>
        </p:nvSpPr>
        <p:spPr>
          <a:xfrm>
            <a:off x="553509" y="156238"/>
            <a:ext cx="8596668" cy="1320800"/>
          </a:xfrm>
        </p:spPr>
        <p:txBody>
          <a:bodyPr>
            <a:normAutofit/>
          </a:bodyPr>
          <a:lstStyle/>
          <a:p>
            <a:pPr algn="ctr"/>
            <a:r>
              <a:rPr lang="en-GB" sz="4000" b="1">
                <a:solidFill>
                  <a:schemeClr val="tx1"/>
                </a:solidFill>
                <a:latin typeface="Arial" panose="020B0604020202020204" pitchFamily="34" charset="0"/>
                <a:cs typeface="Arial" panose="020B0604020202020204" pitchFamily="34" charset="0"/>
              </a:rPr>
              <a:t>Giao diện tra cứu</a:t>
            </a:r>
          </a:p>
        </p:txBody>
      </p:sp>
      <p:pic>
        <p:nvPicPr>
          <p:cNvPr id="5" name="Picture 4" descr="A screenshot of a computer&#10;&#10;AI-generated content may be incorrect.">
            <a:extLst>
              <a:ext uri="{FF2B5EF4-FFF2-40B4-BE49-F238E27FC236}">
                <a16:creationId xmlns:a16="http://schemas.microsoft.com/office/drawing/2014/main" id="{D55F4B8B-40E0-9CDB-0838-25D279FB0867}"/>
              </a:ext>
            </a:extLst>
          </p:cNvPr>
          <p:cNvPicPr>
            <a:picLocks noChangeAspect="1"/>
          </p:cNvPicPr>
          <p:nvPr/>
        </p:nvPicPr>
        <p:blipFill>
          <a:blip r:embed="rId2"/>
          <a:stretch>
            <a:fillRect/>
          </a:stretch>
        </p:blipFill>
        <p:spPr>
          <a:xfrm>
            <a:off x="642578" y="1291541"/>
            <a:ext cx="4050656" cy="3975783"/>
          </a:xfrm>
          <a:prstGeom prst="rect">
            <a:avLst/>
          </a:prstGeom>
        </p:spPr>
      </p:pic>
      <p:sp>
        <p:nvSpPr>
          <p:cNvPr id="6" name="Rectangle 1">
            <a:extLst>
              <a:ext uri="{FF2B5EF4-FFF2-40B4-BE49-F238E27FC236}">
                <a16:creationId xmlns:a16="http://schemas.microsoft.com/office/drawing/2014/main" id="{C4C00E20-57ED-CD6B-6CF0-BCEAC87DDE76}"/>
              </a:ext>
            </a:extLst>
          </p:cNvPr>
          <p:cNvSpPr>
            <a:spLocks noChangeArrowheads="1"/>
          </p:cNvSpPr>
          <p:nvPr/>
        </p:nvSpPr>
        <p:spPr bwMode="auto">
          <a:xfrm rot="10800000" flipV="1">
            <a:off x="4851843" y="1291541"/>
            <a:ext cx="620422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Thanh tìm kiếm (Search Bar):</a:t>
            </a:r>
            <a:r>
              <a:rPr kumimoji="0" lang="en-US" altLang="en-US" sz="1800" b="0" i="0" u="none" strike="noStrike" cap="none" normalizeH="0" baseline="0">
                <a:ln>
                  <a:noFill/>
                </a:ln>
                <a:solidFill>
                  <a:schemeClr val="tx1"/>
                </a:solidFill>
                <a:effectLst/>
                <a:latin typeface="Arial" panose="020B0604020202020204" pitchFamily="34" charset="0"/>
              </a:rPr>
              <a:t> Cho phép nhập từ khóa tự do như tên di tích, địa chỉ hoặc các từ liên quan.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Hệ thống bộ lọc (Filters):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 Theo địa điểm:</a:t>
            </a:r>
            <a:r>
              <a:rPr kumimoji="0" lang="en-US" altLang="en-US" sz="1800" b="0" i="0" u="none" strike="noStrike" cap="none" normalizeH="0" baseline="0">
                <a:ln>
                  <a:noFill/>
                </a:ln>
                <a:solidFill>
                  <a:schemeClr val="tx1"/>
                </a:solidFill>
                <a:effectLst/>
                <a:latin typeface="Arial" panose="020B0604020202020204" pitchFamily="34" charset="0"/>
              </a:rPr>
              <a:t> Thu hẹp phạm vi theo từng Tỉnh/Thành phố.</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 Theo loại hình:</a:t>
            </a:r>
            <a:r>
              <a:rPr kumimoji="0" lang="en-US" altLang="en-US" sz="1800" b="0" i="0" u="none" strike="noStrike" cap="none" normalizeH="0" baseline="0">
                <a:ln>
                  <a:noFill/>
                </a:ln>
                <a:solidFill>
                  <a:schemeClr val="tx1"/>
                </a:solidFill>
                <a:effectLst/>
                <a:latin typeface="Arial" panose="020B0604020202020204" pitchFamily="34" charset="0"/>
              </a:rPr>
              <a:t> Phân loại theo di tích tôn giáo, lịch sử, kiến trúc, văn hóa hoặc nghề truyền thống.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Tìm kiếm nhanh </a:t>
            </a:r>
            <a:r>
              <a:rPr kumimoji="0" lang="en-US" altLang="en-US" sz="1800" b="0" i="0" u="none" strike="noStrike" cap="none" normalizeH="0" baseline="0">
                <a:ln>
                  <a:noFill/>
                </a:ln>
                <a:solidFill>
                  <a:schemeClr val="tx1"/>
                </a:solidFill>
                <a:effectLst/>
                <a:latin typeface="Arial" panose="020B0604020202020204" pitchFamily="34" charset="0"/>
              </a:rPr>
              <a:t>Các thẻ gợi ý sẵn như "Bác Hồ", "Chùa", "Đình", "Bảo tàng" giúp người dùng truy cập nhanh các chủ đề phổ biến mà không cần gõ phím.</a:t>
            </a:r>
          </a:p>
        </p:txBody>
      </p:sp>
      <p:sp>
        <p:nvSpPr>
          <p:cNvPr id="7" name="TextBox 6">
            <a:extLst>
              <a:ext uri="{FF2B5EF4-FFF2-40B4-BE49-F238E27FC236}">
                <a16:creationId xmlns:a16="http://schemas.microsoft.com/office/drawing/2014/main" id="{F530AC98-7A88-31D7-6FC5-0E131C290A83}"/>
              </a:ext>
            </a:extLst>
          </p:cNvPr>
          <p:cNvSpPr txBox="1"/>
          <p:nvPr/>
        </p:nvSpPr>
        <p:spPr>
          <a:xfrm>
            <a:off x="642578" y="885321"/>
            <a:ext cx="2990850" cy="323165"/>
          </a:xfrm>
          <a:prstGeom prst="rect">
            <a:avLst/>
          </a:prstGeom>
          <a:noFill/>
        </p:spPr>
        <p:txBody>
          <a:bodyPr wrap="square" rtlCol="0">
            <a:spAutoFit/>
          </a:bodyPr>
          <a:lstStyle/>
          <a:p>
            <a:r>
              <a:rPr lang="en-GB" sz="1500" b="1">
                <a:latin typeface="Arial" panose="020B0604020202020204" pitchFamily="34" charset="0"/>
                <a:cs typeface="Arial" panose="020B0604020202020204" pitchFamily="34" charset="0"/>
              </a:rPr>
              <a:t>1.Giao diện tra cứu</a:t>
            </a:r>
          </a:p>
        </p:txBody>
      </p:sp>
    </p:spTree>
    <p:extLst>
      <p:ext uri="{BB962C8B-B14F-4D97-AF65-F5344CB8AC3E}">
        <p14:creationId xmlns:p14="http://schemas.microsoft.com/office/powerpoint/2010/main" val="1187440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A8C6D0-0710-18BD-30A7-246C61F96A3B}"/>
              </a:ext>
            </a:extLst>
          </p:cNvPr>
          <p:cNvSpPr>
            <a:spLocks noGrp="1"/>
          </p:cNvSpPr>
          <p:nvPr>
            <p:ph idx="1"/>
          </p:nvPr>
        </p:nvSpPr>
        <p:spPr>
          <a:xfrm>
            <a:off x="677334" y="428625"/>
            <a:ext cx="8596668" cy="5612737"/>
          </a:xfrm>
        </p:spPr>
        <p:txBody>
          <a:bodyPr>
            <a:normAutofit/>
          </a:bodyPr>
          <a:lstStyle/>
          <a:p>
            <a:pPr marL="0" indent="0">
              <a:buNone/>
            </a:pPr>
            <a:r>
              <a:rPr lang="en-GB" sz="1500" b="1">
                <a:solidFill>
                  <a:schemeClr val="tx1"/>
                </a:solidFill>
                <a:latin typeface="Arial" panose="020B0604020202020204" pitchFamily="34" charset="0"/>
                <a:cs typeface="Arial" panose="020B0604020202020204" pitchFamily="34" charset="0"/>
              </a:rPr>
              <a:t>2.kết quả hiển thị</a:t>
            </a:r>
          </a:p>
        </p:txBody>
      </p:sp>
      <p:pic>
        <p:nvPicPr>
          <p:cNvPr id="5" name="Picture 4" descr="A screenshot of a phone&#10;&#10;AI-generated content may be incorrect.">
            <a:extLst>
              <a:ext uri="{FF2B5EF4-FFF2-40B4-BE49-F238E27FC236}">
                <a16:creationId xmlns:a16="http://schemas.microsoft.com/office/drawing/2014/main" id="{75416850-D290-1521-1631-B290CE7C4695}"/>
              </a:ext>
            </a:extLst>
          </p:cNvPr>
          <p:cNvPicPr>
            <a:picLocks noChangeAspect="1"/>
          </p:cNvPicPr>
          <p:nvPr/>
        </p:nvPicPr>
        <p:blipFill>
          <a:blip r:embed="rId2"/>
          <a:stretch>
            <a:fillRect/>
          </a:stretch>
        </p:blipFill>
        <p:spPr>
          <a:xfrm>
            <a:off x="677334" y="816638"/>
            <a:ext cx="3552882" cy="5133975"/>
          </a:xfrm>
          <a:prstGeom prst="rect">
            <a:avLst/>
          </a:prstGeom>
        </p:spPr>
      </p:pic>
      <p:sp>
        <p:nvSpPr>
          <p:cNvPr id="6" name="Rectangle 1">
            <a:extLst>
              <a:ext uri="{FF2B5EF4-FFF2-40B4-BE49-F238E27FC236}">
                <a16:creationId xmlns:a16="http://schemas.microsoft.com/office/drawing/2014/main" id="{F6CCF4D7-D337-785F-C4E8-3907E20EB076}"/>
              </a:ext>
            </a:extLst>
          </p:cNvPr>
          <p:cNvSpPr>
            <a:spLocks noChangeArrowheads="1"/>
          </p:cNvSpPr>
          <p:nvPr/>
        </p:nvSpPr>
        <p:spPr bwMode="auto">
          <a:xfrm rot="10800000" flipV="1">
            <a:off x="4404495" y="816638"/>
            <a:ext cx="537768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Thông tin cơ bản:</a:t>
            </a:r>
            <a:r>
              <a:rPr kumimoji="0" lang="en-US" altLang="en-US" sz="1500" b="0" i="0" u="none" strike="noStrike" cap="none" normalizeH="0" baseline="0">
                <a:ln>
                  <a:noFill/>
                </a:ln>
                <a:solidFill>
                  <a:schemeClr val="tx1"/>
                </a:solidFill>
                <a:effectLst/>
                <a:latin typeface="Arial" panose="020B0604020202020204" pitchFamily="34" charset="0"/>
              </a:rPr>
              <a:t> Tên di tích, địa chỉ, năm xây dựng và mô tả ngắn gọn.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a:ln>
                  <a:noFill/>
                </a:ln>
                <a:solidFill>
                  <a:schemeClr val="tx1"/>
                </a:solidFill>
                <a:effectLst/>
                <a:latin typeface="Arial" panose="020B0604020202020204" pitchFamily="34" charset="0"/>
              </a:rPr>
              <a:t>Thông tin chi tiết:</a:t>
            </a:r>
            <a:r>
              <a:rPr kumimoji="0" lang="en-US" altLang="en-US" sz="1500" b="0" i="0" u="none" strike="noStrike" cap="none" normalizeH="0" baseline="0">
                <a:ln>
                  <a:noFill/>
                </a:ln>
                <a:solidFill>
                  <a:schemeClr val="tx1"/>
                </a:solidFill>
                <a:effectLst/>
                <a:latin typeface="Arial" panose="020B0604020202020204" pitchFamily="34" charset="0"/>
              </a:rPr>
              <a:t> Khi nhấn "Xem chi tiết", người dùng sẽ thấy hình ảnh chất lượng cao, lịch sử đầy đủ và đặc biệt là </a:t>
            </a:r>
            <a:r>
              <a:rPr kumimoji="0" lang="en-US" altLang="en-US" sz="1500" b="1" i="0" u="none" strike="noStrike" cap="none" normalizeH="0" baseline="0">
                <a:ln>
                  <a:noFill/>
                </a:ln>
                <a:solidFill>
                  <a:schemeClr val="tx1"/>
                </a:solidFill>
                <a:effectLst/>
                <a:latin typeface="Arial" panose="020B0604020202020204" pitchFamily="34" charset="0"/>
              </a:rPr>
              <a:t>vị trí GPS chính xác trên Google Maps</a:t>
            </a:r>
            <a:r>
              <a:rPr kumimoji="0" lang="en-US" altLang="en-US" sz="15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77680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C864-D7A2-2CCB-2D54-D4827FCC9B2D}"/>
              </a:ext>
            </a:extLst>
          </p:cNvPr>
          <p:cNvSpPr>
            <a:spLocks noGrp="1"/>
          </p:cNvSpPr>
          <p:nvPr>
            <p:ph type="title"/>
          </p:nvPr>
        </p:nvSpPr>
        <p:spPr>
          <a:xfrm>
            <a:off x="1134534" y="0"/>
            <a:ext cx="8596668" cy="1320800"/>
          </a:xfrm>
        </p:spPr>
        <p:txBody>
          <a:bodyPr>
            <a:normAutofit/>
          </a:bodyPr>
          <a:lstStyle/>
          <a:p>
            <a:pPr algn="ctr"/>
            <a:r>
              <a:rPr lang="en-GB" sz="4000" b="1">
                <a:solidFill>
                  <a:schemeClr val="tx1"/>
                </a:solidFill>
                <a:latin typeface="Arial" panose="020B0604020202020204" pitchFamily="34" charset="0"/>
                <a:cs typeface="Arial" panose="020B0604020202020204" pitchFamily="34" charset="0"/>
              </a:rPr>
              <a:t>Hướng phát triển đề xuất</a:t>
            </a:r>
          </a:p>
        </p:txBody>
      </p:sp>
      <p:sp>
        <p:nvSpPr>
          <p:cNvPr id="4" name="Rectangle 1">
            <a:extLst>
              <a:ext uri="{FF2B5EF4-FFF2-40B4-BE49-F238E27FC236}">
                <a16:creationId xmlns:a16="http://schemas.microsoft.com/office/drawing/2014/main" id="{4B45A080-15FF-C966-7EB5-706D537E571F}"/>
              </a:ext>
            </a:extLst>
          </p:cNvPr>
          <p:cNvSpPr>
            <a:spLocks noGrp="1" noChangeArrowheads="1"/>
          </p:cNvSpPr>
          <p:nvPr>
            <p:ph idx="1"/>
          </p:nvPr>
        </p:nvSpPr>
        <p:spPr bwMode="auto">
          <a:xfrm>
            <a:off x="362153" y="1130790"/>
            <a:ext cx="10375954"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1. Đề xuất ngắn hạn (3 - 6 tháng)</a:t>
            </a:r>
            <a:endParaRPr kumimoji="0" lang="en-US" altLang="en-US" sz="1500" b="0" i="0" u="none" strike="noStrike" cap="none" normalizeH="0" baseline="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 Hoàn thiện quản trị:</a:t>
            </a:r>
            <a:r>
              <a:rPr kumimoji="0" lang="en-US" altLang="en-US" sz="1500" b="0" i="0" u="none" strike="noStrike" cap="none" normalizeH="0" baseline="0">
                <a:ln>
                  <a:noFill/>
                </a:ln>
                <a:solidFill>
                  <a:schemeClr val="tx1"/>
                </a:solidFill>
                <a:effectLst/>
                <a:latin typeface="Arial" panose="020B0604020202020204" pitchFamily="34" charset="0"/>
              </a:rPr>
              <a:t> Bổ sung các tính năng quản trị nâng cao dành riêng cho Admin để việc cập nhật dữ liệu thuận tiện hơn.</a:t>
            </a: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 Tương tác người dùng:</a:t>
            </a:r>
            <a:r>
              <a:rPr kumimoji="0" lang="en-US" altLang="en-US" sz="1500" b="0" i="0" u="none" strike="noStrike" cap="none" normalizeH="0" baseline="0">
                <a:ln>
                  <a:noFill/>
                </a:ln>
                <a:solidFill>
                  <a:schemeClr val="tx1"/>
                </a:solidFill>
                <a:effectLst/>
                <a:latin typeface="Arial" panose="020B0604020202020204" pitchFamily="34" charset="0"/>
              </a:rPr>
              <a:t> Tích hợp thêm hệ thống </a:t>
            </a:r>
            <a:r>
              <a:rPr kumimoji="0" lang="en-US" altLang="en-US" sz="1500" i="0" u="none" strike="noStrike" cap="none" normalizeH="0" baseline="0">
                <a:ln>
                  <a:noFill/>
                </a:ln>
                <a:solidFill>
                  <a:schemeClr val="tx1"/>
                </a:solidFill>
                <a:effectLst/>
                <a:latin typeface="Arial" panose="020B0604020202020204" pitchFamily="34" charset="0"/>
              </a:rPr>
              <a:t>đánh giá và phản hồi (bình luận) </a:t>
            </a:r>
            <a:r>
              <a:rPr kumimoji="0" lang="en-US" altLang="en-US" sz="1500" b="0" i="0" u="none" strike="noStrike" cap="none" normalizeH="0" baseline="0">
                <a:ln>
                  <a:noFill/>
                </a:ln>
                <a:solidFill>
                  <a:schemeClr val="tx1"/>
                </a:solidFill>
                <a:effectLst/>
                <a:latin typeface="Arial" panose="020B0604020202020204" pitchFamily="34" charset="0"/>
              </a:rPr>
              <a:t>từ người dùng để tăng tính khách quan cho dữ liệu.</a:t>
            </a: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 Tối ưu kỹ thuật:</a:t>
            </a:r>
            <a:r>
              <a:rPr kumimoji="0" lang="en-US" altLang="en-US" sz="1500" b="0" i="0" u="none" strike="noStrike" cap="none" normalizeH="0" baseline="0">
                <a:ln>
                  <a:noFill/>
                </a:ln>
                <a:solidFill>
                  <a:schemeClr val="tx1"/>
                </a:solidFill>
                <a:effectLst/>
                <a:latin typeface="Arial" panose="020B0604020202020204" pitchFamily="34" charset="0"/>
              </a:rPr>
              <a:t> Tập trung tối ưu hóa </a:t>
            </a:r>
            <a:r>
              <a:rPr kumimoji="0" lang="en-US" altLang="en-US" sz="1500" i="0" u="none" strike="noStrike" cap="none" normalizeH="0" baseline="0">
                <a:ln>
                  <a:noFill/>
                </a:ln>
                <a:solidFill>
                  <a:schemeClr val="tx1"/>
                </a:solidFill>
                <a:effectLst/>
                <a:latin typeface="Arial" panose="020B0604020202020204" pitchFamily="34" charset="0"/>
              </a:rPr>
              <a:t>SEO</a:t>
            </a:r>
            <a:r>
              <a:rPr kumimoji="0" lang="en-US" altLang="en-US" sz="1500" b="0" i="0" u="none" strike="noStrike" cap="none" normalizeH="0" baseline="0">
                <a:ln>
                  <a:noFill/>
                </a:ln>
                <a:solidFill>
                  <a:schemeClr val="tx1"/>
                </a:solidFill>
                <a:effectLst/>
                <a:latin typeface="Arial" panose="020B0604020202020204" pitchFamily="34" charset="0"/>
              </a:rPr>
              <a:t> để website dễ dàng tiếp cận người dùng qua công cụ tìm kiếm và cải thiện tốc độ tải trang.</a:t>
            </a: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2. Đề xuất trung hạn (6 - 12 tháng)</a:t>
            </a:r>
            <a:endParaRPr kumimoji="0" lang="en-US" altLang="en-US" sz="1500" b="0" i="0" u="none" strike="noStrike" cap="none" normalizeH="0" baseline="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ClrTx/>
              <a:buSzTx/>
              <a:buNone/>
            </a:pPr>
            <a:r>
              <a:rPr lang="en-US" altLang="en-US" sz="1500" b="1">
                <a:solidFill>
                  <a:schemeClr val="tx1"/>
                </a:solidFill>
                <a:latin typeface="Arial" panose="020B0604020202020204" pitchFamily="34" charset="0"/>
              </a:rPr>
              <a:t>- </a:t>
            </a:r>
            <a:r>
              <a:rPr kumimoji="0" lang="en-US" altLang="en-US" sz="1500" b="1" i="0" u="none" strike="noStrike" cap="none" normalizeH="0" baseline="0">
                <a:ln>
                  <a:noFill/>
                </a:ln>
                <a:solidFill>
                  <a:schemeClr val="tx1"/>
                </a:solidFill>
                <a:effectLst/>
                <a:latin typeface="Arial" panose="020B0604020202020204" pitchFamily="34" charset="0"/>
              </a:rPr>
              <a:t>Mở rộng quy mô:</a:t>
            </a:r>
            <a:r>
              <a:rPr kumimoji="0" lang="en-US" altLang="en-US" sz="1500" b="0" i="0" u="none" strike="noStrike" cap="none" normalizeH="0" baseline="0">
                <a:ln>
                  <a:noFill/>
                </a:ln>
                <a:solidFill>
                  <a:schemeClr val="tx1"/>
                </a:solidFill>
                <a:effectLst/>
                <a:latin typeface="Arial" panose="020B0604020202020204" pitchFamily="34" charset="0"/>
              </a:rPr>
              <a:t> Không chỉ dừng lại ở Vĩnh Long, hệ thống cần mở rộng cơ sở dữ liệu sang các tỉnh lân cận trong khu vực Đồng bằng sông Cửu Long.</a:t>
            </a: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 Ứng dụng AI:</a:t>
            </a:r>
            <a:r>
              <a:rPr kumimoji="0" lang="en-US" altLang="en-US" sz="1500" b="0" i="0" u="none" strike="noStrike" cap="none" normalizeH="0" baseline="0">
                <a:ln>
                  <a:noFill/>
                </a:ln>
                <a:solidFill>
                  <a:schemeClr val="tx1"/>
                </a:solidFill>
                <a:effectLst/>
                <a:latin typeface="Arial" panose="020B0604020202020204" pitchFamily="34" charset="0"/>
              </a:rPr>
              <a:t> Tích hợp </a:t>
            </a:r>
            <a:r>
              <a:rPr kumimoji="0" lang="en-US" altLang="en-US" sz="1500" i="0" u="none" strike="noStrike" cap="none" normalizeH="0" baseline="0">
                <a:ln>
                  <a:noFill/>
                </a:ln>
                <a:solidFill>
                  <a:schemeClr val="tx1"/>
                </a:solidFill>
                <a:effectLst/>
                <a:latin typeface="Arial" panose="020B0604020202020204" pitchFamily="34" charset="0"/>
              </a:rPr>
              <a:t>trí tuệ nhân tạo (AI/ML) </a:t>
            </a:r>
            <a:r>
              <a:rPr kumimoji="0" lang="en-US" altLang="en-US" sz="1500" b="0" i="0" u="none" strike="noStrike" cap="none" normalizeH="0" baseline="0">
                <a:ln>
                  <a:noFill/>
                </a:ln>
                <a:solidFill>
                  <a:schemeClr val="tx1"/>
                </a:solidFill>
                <a:effectLst/>
                <a:latin typeface="Arial" panose="020B0604020202020204" pitchFamily="34" charset="0"/>
              </a:rPr>
              <a:t>để gợi ý các địa điểm di tích phù hợp với sở thích của từng người dùng.</a:t>
            </a:r>
          </a:p>
          <a:p>
            <a:pPr marL="0" indent="0" defTabSz="914400" eaLnBrk="0" fontAlgn="base" hangingPunct="0">
              <a:spcBef>
                <a:spcPct val="0"/>
              </a:spcBef>
              <a:spcAft>
                <a:spcPct val="0"/>
              </a:spcAft>
              <a:buClrTx/>
              <a:buSzTx/>
              <a:buNone/>
            </a:pPr>
            <a:r>
              <a:rPr kumimoji="0" lang="en-US" altLang="en-US" sz="1500" b="1" i="0" u="none" strike="noStrike" cap="none" normalizeH="0" baseline="0">
                <a:ln>
                  <a:noFill/>
                </a:ln>
                <a:solidFill>
                  <a:schemeClr val="tx1"/>
                </a:solidFill>
                <a:effectLst/>
                <a:latin typeface="Arial" panose="020B0604020202020204" pitchFamily="34" charset="0"/>
              </a:rPr>
              <a:t>3. Đề xuất dài hạn(1 - 2 năm)</a:t>
            </a:r>
          </a:p>
          <a:p>
            <a:pPr marL="0" indent="0" defTabSz="914400" eaLnBrk="0" fontAlgn="base" hangingPunct="0">
              <a:spcBef>
                <a:spcPct val="0"/>
              </a:spcBef>
              <a:spcAft>
                <a:spcPct val="0"/>
              </a:spcAft>
              <a:buClrTx/>
              <a:buSzTx/>
              <a:buNone/>
            </a:pPr>
            <a:r>
              <a:rPr lang="en-GB" sz="1500" b="1">
                <a:solidFill>
                  <a:schemeClr val="tx1"/>
                </a:solidFill>
                <a:latin typeface="Arial" panose="020B0604020202020204" pitchFamily="34" charset="0"/>
                <a:cs typeface="Arial" panose="020B0604020202020204" pitchFamily="34" charset="0"/>
              </a:rPr>
              <a:t>- Tầm vóc quốc gia: </a:t>
            </a:r>
            <a:r>
              <a:rPr lang="en-GB" sz="1500">
                <a:solidFill>
                  <a:schemeClr val="tx1"/>
                </a:solidFill>
                <a:latin typeface="Arial" panose="020B0604020202020204" pitchFamily="34" charset="0"/>
                <a:cs typeface="Arial" panose="020B0604020202020204" pitchFamily="34" charset="0"/>
              </a:rPr>
              <a:t>Phát triển website trở thành một nền nảng quốc gia về di sản văn hóa</a:t>
            </a:r>
          </a:p>
          <a:p>
            <a:pPr marL="0" indent="0" defTabSz="914400" eaLnBrk="0" fontAlgn="base" hangingPunct="0">
              <a:spcBef>
                <a:spcPct val="0"/>
              </a:spcBef>
              <a:spcAft>
                <a:spcPct val="0"/>
              </a:spcAft>
              <a:buClrTx/>
              <a:buSzTx/>
              <a:buNone/>
            </a:pPr>
            <a:r>
              <a:rPr lang="en-GB" sz="1500" b="1">
                <a:solidFill>
                  <a:schemeClr val="tx1"/>
                </a:solidFill>
                <a:latin typeface="Arial" panose="020B0604020202020204" pitchFamily="34" charset="0"/>
                <a:cs typeface="Arial" panose="020B0604020202020204" pitchFamily="34" charset="0"/>
              </a:rPr>
              <a:t>- Hệ sinh thái: </a:t>
            </a:r>
            <a:r>
              <a:rPr lang="en-GB" sz="1500">
                <a:solidFill>
                  <a:schemeClr val="tx1"/>
                </a:solidFill>
                <a:latin typeface="Arial" panose="020B0604020202020204" pitchFamily="34" charset="0"/>
                <a:cs typeface="Arial" panose="020B0604020202020204" pitchFamily="34" charset="0"/>
              </a:rPr>
              <a:t>Xây dựng một hệ sinh thái du lịch thông minh toàn diện</a:t>
            </a:r>
            <a:endParaRPr kumimoji="0" lang="en-US" altLang="en-US" sz="150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7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490AE-B4F1-15C1-0586-7BEE419FE985}"/>
              </a:ext>
            </a:extLst>
          </p:cNvPr>
          <p:cNvSpPr>
            <a:spLocks noGrp="1"/>
          </p:cNvSpPr>
          <p:nvPr>
            <p:ph idx="1"/>
          </p:nvPr>
        </p:nvSpPr>
        <p:spPr>
          <a:xfrm>
            <a:off x="1669555" y="1654750"/>
            <a:ext cx="7698181" cy="3880773"/>
          </a:xfrm>
        </p:spPr>
        <p:txBody>
          <a:bodyPr>
            <a:noAutofit/>
          </a:bodyPr>
          <a:lstStyle/>
          <a:p>
            <a:pPr marL="0" indent="0" algn="ctr">
              <a:buNone/>
            </a:pPr>
            <a:r>
              <a:rPr lang="en-GB" sz="5000" b="1">
                <a:solidFill>
                  <a:schemeClr val="tx1"/>
                </a:solidFill>
                <a:latin typeface="Arial" panose="020B0604020202020204" pitchFamily="34" charset="0"/>
                <a:cs typeface="Arial" panose="020B0604020202020204" pitchFamily="34" charset="0"/>
              </a:rPr>
              <a:t>EM CẢM ƠN THẦY/CÔ ĐÃ LẮNG NGHE</a:t>
            </a:r>
          </a:p>
        </p:txBody>
      </p:sp>
    </p:spTree>
    <p:extLst>
      <p:ext uri="{BB962C8B-B14F-4D97-AF65-F5344CB8AC3E}">
        <p14:creationId xmlns:p14="http://schemas.microsoft.com/office/powerpoint/2010/main" val="246531399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169</TotalTime>
  <Words>3034</Words>
  <Application>Microsoft Office PowerPoint</Application>
  <PresentationFormat>Widescreen</PresentationFormat>
  <Paragraphs>164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Trebuchet MS</vt:lpstr>
      <vt:lpstr>Wingdings 3</vt:lpstr>
      <vt:lpstr>Facet</vt:lpstr>
      <vt:lpstr>Xây dựng Website giới thiệu các di tích lịch sử trên địa bàn Tỉnh Vĩnh Long</vt:lpstr>
      <vt:lpstr>Nội Dung</vt:lpstr>
      <vt:lpstr>Lý do chọn đề tài</vt:lpstr>
      <vt:lpstr>Mục tiêu, đối tượng và phạm vi nghiên cứu của đồ án  </vt:lpstr>
      <vt:lpstr>Front-end và Back-end là gì </vt:lpstr>
      <vt:lpstr>PowerPoint Presentation</vt:lpstr>
      <vt:lpstr>PowerPoint Presentation</vt:lpstr>
      <vt:lpstr>MySQL, UI/UX và PHP là gì </vt:lpstr>
      <vt:lpstr>PowerPoint Presentation</vt:lpstr>
      <vt:lpstr>Quy Trình Nghiên Cứu Và Phát Triển</vt:lpstr>
      <vt:lpstr>Thiết kế kiến trúc hệ thống </vt:lpstr>
      <vt:lpstr>Mô hình MVC</vt:lpstr>
      <vt:lpstr>Mô Hình ERD</vt:lpstr>
      <vt:lpstr>Giao diện trang chủ</vt:lpstr>
      <vt:lpstr>Giao diện đăng nhập và đăng ký</vt:lpstr>
      <vt:lpstr>PowerPoint Presentation</vt:lpstr>
      <vt:lpstr>Giao diện tra cứu</vt:lpstr>
      <vt:lpstr>PowerPoint Presentation</vt:lpstr>
      <vt:lpstr>Hướng phát triển đề xuất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dai phat dai phat</dc:creator>
  <cp:lastModifiedBy>dai phat dai phat</cp:lastModifiedBy>
  <cp:revision>10</cp:revision>
  <dcterms:created xsi:type="dcterms:W3CDTF">2026-01-03T07:55:44Z</dcterms:created>
  <dcterms:modified xsi:type="dcterms:W3CDTF">2026-01-04T15:06:45Z</dcterms:modified>
</cp:coreProperties>
</file>